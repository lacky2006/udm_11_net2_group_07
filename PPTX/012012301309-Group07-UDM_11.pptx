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x="18288000" cy="10287000"/>
  <p:notesSz cx="6858000" cy="9144000"/>
  <p:embeddedFontLst>
    <p:embeddedFont>
      <p:font typeface="Noto Sans" charset="1" panose="020B0502040504020204"/>
      <p:regular r:id="rId52"/>
    </p:embeddedFont>
    <p:embeddedFont>
      <p:font typeface="Noto Sans Bold" charset="1" panose="020B0802040504020204"/>
      <p:regular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fonts/font52.fntdata" Type="http://schemas.openxmlformats.org/officeDocument/2006/relationships/font"/><Relationship Id="rId53" Target="fonts/font53.fntdata" Type="http://schemas.openxmlformats.org/officeDocument/2006/relationships/font"/><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png" Type="http://schemas.openxmlformats.org/officeDocument/2006/relationships/image"/><Relationship Id="rId4" Target="../media/image5.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7.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8.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0.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1.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2.png" Type="http://schemas.openxmlformats.org/officeDocument/2006/relationships/image"/><Relationship Id="rId4" Target="../media/image13.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4.png" Type="http://schemas.openxmlformats.org/officeDocument/2006/relationships/image"/><Relationship Id="rId4" Target="../media/image15.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6.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7.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8.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9.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0.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1.png" Type="http://schemas.openxmlformats.org/officeDocument/2006/relationships/image"/><Relationship Id="rId4" Target="../media/image22.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3.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4.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5.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6.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7.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8.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9.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0.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1.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2.png" Type="http://schemas.openxmlformats.org/officeDocument/2006/relationships/image"/><Relationship Id="rId4" Target="../media/image33.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4.png" Type="http://schemas.openxmlformats.org/officeDocument/2006/relationships/image"/><Relationship Id="rId4" Target="../media/image35.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6.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7.png" Type="http://schemas.openxmlformats.org/officeDocument/2006/relationships/image"/><Relationship Id="rId4" Target="../media/image38.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39.png" Type="http://schemas.openxmlformats.org/officeDocument/2006/relationships/image"/><Relationship Id="rId4" Target="../media/image40.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1.png" Type="http://schemas.openxmlformats.org/officeDocument/2006/relationships/image"/><Relationship Id="rId4" Target="../media/image42.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3.png" Type="http://schemas.openxmlformats.org/officeDocument/2006/relationships/image"/><Relationship Id="rId4" Target="../media/image44.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5.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6.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7.png" Type="http://schemas.openxmlformats.org/officeDocument/2006/relationships/image"/><Relationship Id="rId4" Target="../media/image48.png" Type="http://schemas.openxmlformats.org/officeDocument/2006/relationships/image"/><Relationship Id="rId5" Target="../media/image49.png" Type="http://schemas.openxmlformats.org/officeDocument/2006/relationships/image"/><Relationship Id="rId6" Target="../media/image50.png" Type="http://schemas.openxmlformats.org/officeDocument/2006/relationships/image"/><Relationship Id="rId7" Target="../media/image51.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52.png" Type="http://schemas.openxmlformats.org/officeDocument/2006/relationships/image"/><Relationship Id="rId4" Target="../media/image53.pn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6625752" y="8745854"/>
            <a:ext cx="5036496" cy="920116"/>
          </a:xfrm>
          <a:prstGeom prst="rect">
            <a:avLst/>
          </a:prstGeom>
        </p:spPr>
        <p:txBody>
          <a:bodyPr anchor="t" rtlCol="false" tIns="0" lIns="0" bIns="0" rIns="0">
            <a:spAutoFit/>
          </a:bodyPr>
          <a:lstStyle/>
          <a:p>
            <a:pPr algn="ctr">
              <a:lnSpc>
                <a:spcPts val="7559"/>
              </a:lnSpc>
              <a:spcBef>
                <a:spcPct val="0"/>
              </a:spcBef>
            </a:pPr>
            <a:r>
              <a:rPr lang="en-US" sz="5399">
                <a:solidFill>
                  <a:srgbClr val="000000"/>
                </a:solidFill>
                <a:latin typeface="Noto Sans"/>
                <a:ea typeface="Noto Sans"/>
                <a:cs typeface="Noto Sans"/>
                <a:sym typeface="Noto Sans"/>
              </a:rPr>
              <a:t>NHÓM 07</a:t>
            </a:r>
          </a:p>
        </p:txBody>
      </p:sp>
      <p:sp>
        <p:nvSpPr>
          <p:cNvPr name="TextBox 4" id="4"/>
          <p:cNvSpPr txBox="true"/>
          <p:nvPr/>
        </p:nvSpPr>
        <p:spPr>
          <a:xfrm rot="0">
            <a:off x="5909250" y="2358389"/>
            <a:ext cx="6469499" cy="1732916"/>
          </a:xfrm>
          <a:prstGeom prst="rect">
            <a:avLst/>
          </a:prstGeom>
        </p:spPr>
        <p:txBody>
          <a:bodyPr anchor="t" rtlCol="false" tIns="0" lIns="0" bIns="0" rIns="0">
            <a:spAutoFit/>
          </a:bodyPr>
          <a:lstStyle/>
          <a:p>
            <a:pPr algn="ctr">
              <a:lnSpc>
                <a:spcPts val="8959"/>
              </a:lnSpc>
              <a:spcBef>
                <a:spcPct val="0"/>
              </a:spcBef>
            </a:pPr>
            <a:r>
              <a:rPr lang="en-US" b="true" sz="6399">
                <a:solidFill>
                  <a:srgbClr val="000000"/>
                </a:solidFill>
                <a:latin typeface="Noto Sans Bold"/>
                <a:ea typeface="Noto Sans Bold"/>
                <a:cs typeface="Noto Sans Bold"/>
                <a:sym typeface="Noto Sans Bold"/>
              </a:rPr>
              <a:t>TÊ</a:t>
            </a:r>
            <a:r>
              <a:rPr lang="en-US" b="true" sz="6399">
                <a:solidFill>
                  <a:srgbClr val="000000"/>
                </a:solidFill>
                <a:latin typeface="Noto Sans Bold"/>
                <a:ea typeface="Noto Sans Bold"/>
                <a:cs typeface="Noto Sans Bold"/>
                <a:sym typeface="Noto Sans Bold"/>
              </a:rPr>
              <a:t>N ĐỀ TÀI:</a:t>
            </a:r>
          </a:p>
          <a:p>
            <a:pPr algn="ctr">
              <a:lnSpc>
                <a:spcPts val="4759"/>
              </a:lnSpc>
              <a:spcBef>
                <a:spcPct val="0"/>
              </a:spcBef>
            </a:pPr>
          </a:p>
        </p:txBody>
      </p:sp>
      <p:sp>
        <p:nvSpPr>
          <p:cNvPr name="TextBox 5" id="5"/>
          <p:cNvSpPr txBox="true"/>
          <p:nvPr/>
        </p:nvSpPr>
        <p:spPr>
          <a:xfrm rot="0">
            <a:off x="1646464" y="3967480"/>
            <a:ext cx="14995072" cy="2228215"/>
          </a:xfrm>
          <a:prstGeom prst="rect">
            <a:avLst/>
          </a:prstGeom>
        </p:spPr>
        <p:txBody>
          <a:bodyPr anchor="t" rtlCol="false" tIns="0" lIns="0" bIns="0" rIns="0">
            <a:spAutoFit/>
          </a:bodyPr>
          <a:lstStyle/>
          <a:p>
            <a:pPr algn="ctr">
              <a:lnSpc>
                <a:spcPts val="8959"/>
              </a:lnSpc>
              <a:spcBef>
                <a:spcPct val="0"/>
              </a:spcBef>
            </a:pPr>
            <a:r>
              <a:rPr lang="en-US" sz="6399">
                <a:solidFill>
                  <a:srgbClr val="000000"/>
                </a:solidFill>
                <a:latin typeface="Noto Sans"/>
                <a:ea typeface="Noto Sans"/>
                <a:cs typeface="Noto Sans"/>
                <a:sym typeface="Noto Sans"/>
              </a:rPr>
              <a:t> Lập trình ứng</a:t>
            </a:r>
            <a:r>
              <a:rPr lang="en-US" sz="6399">
                <a:solidFill>
                  <a:srgbClr val="000000"/>
                </a:solidFill>
                <a:latin typeface="Noto Sans"/>
                <a:ea typeface="Noto Sans"/>
                <a:cs typeface="Noto Sans"/>
                <a:sym typeface="Noto Sans"/>
              </a:rPr>
              <a:t> dụng Upload Multi File</a:t>
            </a:r>
          </a:p>
          <a:p>
            <a:pPr algn="ctr">
              <a:lnSpc>
                <a:spcPts val="8959"/>
              </a:lnSpc>
              <a:spcBef>
                <a:spcPct val="0"/>
              </a:spcBef>
            </a:pPr>
          </a:p>
        </p:txBody>
      </p:sp>
      <p:sp>
        <p:nvSpPr>
          <p:cNvPr name="TextBox 6" id="6"/>
          <p:cNvSpPr txBox="true"/>
          <p:nvPr/>
        </p:nvSpPr>
        <p:spPr>
          <a:xfrm rot="0">
            <a:off x="12660742" y="5219065"/>
            <a:ext cx="4438293" cy="976630"/>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G</a:t>
            </a:r>
            <a:r>
              <a:rPr lang="en-US" sz="2799">
                <a:solidFill>
                  <a:srgbClr val="000000"/>
                </a:solidFill>
                <a:latin typeface="Noto Sans"/>
                <a:ea typeface="Noto Sans"/>
                <a:cs typeface="Noto Sans"/>
                <a:sym typeface="Noto Sans"/>
              </a:rPr>
              <a:t>iảng Viên:Mai Ngọc Châu</a:t>
            </a:r>
          </a:p>
          <a:p>
            <a:pPr algn="ctr">
              <a:lnSpc>
                <a:spcPts val="3919"/>
              </a:lnSpc>
              <a:spcBef>
                <a:spcPct val="0"/>
              </a:spcBef>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5235178" y="1233992"/>
            <a:ext cx="7817644" cy="1094740"/>
          </a:xfrm>
          <a:prstGeom prst="rect">
            <a:avLst/>
          </a:prstGeom>
        </p:spPr>
        <p:txBody>
          <a:bodyPr anchor="t" rtlCol="false" tIns="0" lIns="0" bIns="0" rIns="0">
            <a:spAutoFit/>
          </a:bodyPr>
          <a:lstStyle/>
          <a:p>
            <a:pPr algn="ctr">
              <a:lnSpc>
                <a:spcPts val="8959"/>
              </a:lnSpc>
              <a:spcBef>
                <a:spcPct val="0"/>
              </a:spcBef>
            </a:pPr>
            <a:r>
              <a:rPr lang="en-US" sz="6399">
                <a:solidFill>
                  <a:srgbClr val="000000"/>
                </a:solidFill>
                <a:latin typeface="Noto Sans"/>
                <a:ea typeface="Noto Sans"/>
                <a:cs typeface="Noto Sans"/>
                <a:sym typeface="Noto Sans"/>
              </a:rPr>
              <a:t>Thành viên nhóm 07</a:t>
            </a:r>
          </a:p>
        </p:txBody>
      </p:sp>
      <p:sp>
        <p:nvSpPr>
          <p:cNvPr name="TextBox 4" id="4"/>
          <p:cNvSpPr txBox="true"/>
          <p:nvPr/>
        </p:nvSpPr>
        <p:spPr>
          <a:xfrm rot="0">
            <a:off x="1348680" y="3680962"/>
            <a:ext cx="5608291" cy="613410"/>
          </a:xfrm>
          <a:prstGeom prst="rect">
            <a:avLst/>
          </a:prstGeom>
        </p:spPr>
        <p:txBody>
          <a:bodyPr anchor="t" rtlCol="false" tIns="0" lIns="0" bIns="0" rIns="0">
            <a:spAutoFit/>
          </a:bodyPr>
          <a:lstStyle/>
          <a:p>
            <a:pPr algn="ctr">
              <a:lnSpc>
                <a:spcPts val="5040"/>
              </a:lnSpc>
              <a:spcBef>
                <a:spcPct val="0"/>
              </a:spcBef>
            </a:pPr>
            <a:r>
              <a:rPr lang="en-US" sz="3600">
                <a:solidFill>
                  <a:srgbClr val="000000"/>
                </a:solidFill>
                <a:latin typeface="Noto Sans"/>
                <a:ea typeface="Noto Sans"/>
                <a:cs typeface="Noto Sans"/>
                <a:sym typeface="Noto Sans"/>
              </a:rPr>
              <a:t>Nguyễn Ngọc Quang Vinh</a:t>
            </a:r>
          </a:p>
        </p:txBody>
      </p:sp>
      <p:sp>
        <p:nvSpPr>
          <p:cNvPr name="TextBox 5" id="5"/>
          <p:cNvSpPr txBox="true"/>
          <p:nvPr/>
        </p:nvSpPr>
        <p:spPr>
          <a:xfrm rot="0">
            <a:off x="1348680" y="4256723"/>
            <a:ext cx="5860698" cy="613410"/>
          </a:xfrm>
          <a:prstGeom prst="rect">
            <a:avLst/>
          </a:prstGeom>
        </p:spPr>
        <p:txBody>
          <a:bodyPr anchor="t" rtlCol="false" tIns="0" lIns="0" bIns="0" rIns="0">
            <a:spAutoFit/>
          </a:bodyPr>
          <a:lstStyle/>
          <a:p>
            <a:pPr algn="l">
              <a:lnSpc>
                <a:spcPts val="5040"/>
              </a:lnSpc>
              <a:spcBef>
                <a:spcPct val="0"/>
              </a:spcBef>
            </a:pPr>
            <a:r>
              <a:rPr lang="en-US" sz="3600">
                <a:solidFill>
                  <a:srgbClr val="000000"/>
                </a:solidFill>
                <a:latin typeface="Noto Sans"/>
                <a:ea typeface="Noto Sans"/>
                <a:cs typeface="Noto Sans"/>
                <a:sym typeface="Noto Sans"/>
              </a:rPr>
              <a:t>Nguyễn Quốc Huy</a:t>
            </a:r>
          </a:p>
        </p:txBody>
      </p:sp>
      <p:sp>
        <p:nvSpPr>
          <p:cNvPr name="TextBox 6" id="6"/>
          <p:cNvSpPr txBox="true"/>
          <p:nvPr/>
        </p:nvSpPr>
        <p:spPr>
          <a:xfrm rot="0">
            <a:off x="10477424" y="4803458"/>
            <a:ext cx="4407545" cy="613408"/>
          </a:xfrm>
          <a:prstGeom prst="rect">
            <a:avLst/>
          </a:prstGeom>
        </p:spPr>
        <p:txBody>
          <a:bodyPr anchor="t" rtlCol="false" tIns="0" lIns="0" bIns="0" rIns="0">
            <a:spAutoFit/>
          </a:bodyPr>
          <a:lstStyle/>
          <a:p>
            <a:pPr algn="ctr">
              <a:lnSpc>
                <a:spcPts val="5040"/>
              </a:lnSpc>
              <a:spcBef>
                <a:spcPct val="0"/>
              </a:spcBef>
            </a:pPr>
            <a:r>
              <a:rPr lang="en-US" sz="3600">
                <a:solidFill>
                  <a:srgbClr val="000000"/>
                </a:solidFill>
                <a:latin typeface="Noto Sans"/>
                <a:ea typeface="Noto Sans"/>
                <a:cs typeface="Noto Sans"/>
                <a:sym typeface="Noto Sans"/>
              </a:rPr>
              <a:t>Phùng Hữu Đức Huy</a:t>
            </a:r>
          </a:p>
        </p:txBody>
      </p:sp>
      <p:sp>
        <p:nvSpPr>
          <p:cNvPr name="TextBox 7" id="7"/>
          <p:cNvSpPr txBox="true"/>
          <p:nvPr/>
        </p:nvSpPr>
        <p:spPr>
          <a:xfrm rot="0">
            <a:off x="10477424" y="4227697"/>
            <a:ext cx="4666655" cy="613408"/>
          </a:xfrm>
          <a:prstGeom prst="rect">
            <a:avLst/>
          </a:prstGeom>
        </p:spPr>
        <p:txBody>
          <a:bodyPr anchor="t" rtlCol="false" tIns="0" lIns="0" bIns="0" rIns="0">
            <a:spAutoFit/>
          </a:bodyPr>
          <a:lstStyle/>
          <a:p>
            <a:pPr algn="ctr">
              <a:lnSpc>
                <a:spcPts val="5040"/>
              </a:lnSpc>
              <a:spcBef>
                <a:spcPct val="0"/>
              </a:spcBef>
            </a:pPr>
            <a:r>
              <a:rPr lang="en-US" sz="3600">
                <a:solidFill>
                  <a:srgbClr val="000000"/>
                </a:solidFill>
                <a:latin typeface="Noto Sans"/>
                <a:ea typeface="Noto Sans"/>
                <a:cs typeface="Noto Sans"/>
                <a:sym typeface="Noto Sans"/>
              </a:rPr>
              <a:t>Nguyễn Thị Hồng Sen</a:t>
            </a:r>
          </a:p>
        </p:txBody>
      </p:sp>
      <p:sp>
        <p:nvSpPr>
          <p:cNvPr name="TextBox 8" id="8"/>
          <p:cNvSpPr txBox="true"/>
          <p:nvPr/>
        </p:nvSpPr>
        <p:spPr>
          <a:xfrm rot="0">
            <a:off x="1348680" y="4925628"/>
            <a:ext cx="4147423" cy="613410"/>
          </a:xfrm>
          <a:prstGeom prst="rect">
            <a:avLst/>
          </a:prstGeom>
        </p:spPr>
        <p:txBody>
          <a:bodyPr anchor="t" rtlCol="false" tIns="0" lIns="0" bIns="0" rIns="0">
            <a:spAutoFit/>
          </a:bodyPr>
          <a:lstStyle/>
          <a:p>
            <a:pPr algn="ctr">
              <a:lnSpc>
                <a:spcPts val="5040"/>
              </a:lnSpc>
              <a:spcBef>
                <a:spcPct val="0"/>
              </a:spcBef>
            </a:pPr>
            <a:r>
              <a:rPr lang="en-US" sz="3600">
                <a:solidFill>
                  <a:srgbClr val="000000"/>
                </a:solidFill>
                <a:latin typeface="Noto Sans"/>
                <a:ea typeface="Noto Sans"/>
                <a:cs typeface="Noto Sans"/>
                <a:sym typeface="Noto Sans"/>
              </a:rPr>
              <a:t>Nguyễn Hữu Quyết</a:t>
            </a:r>
          </a:p>
        </p:txBody>
      </p:sp>
      <p:sp>
        <p:nvSpPr>
          <p:cNvPr name="TextBox 9" id="9"/>
          <p:cNvSpPr txBox="true"/>
          <p:nvPr/>
        </p:nvSpPr>
        <p:spPr>
          <a:xfrm rot="0">
            <a:off x="10477424" y="3680962"/>
            <a:ext cx="3721298" cy="613410"/>
          </a:xfrm>
          <a:prstGeom prst="rect">
            <a:avLst/>
          </a:prstGeom>
        </p:spPr>
        <p:txBody>
          <a:bodyPr anchor="t" rtlCol="false" tIns="0" lIns="0" bIns="0" rIns="0">
            <a:spAutoFit/>
          </a:bodyPr>
          <a:lstStyle/>
          <a:p>
            <a:pPr algn="ctr">
              <a:lnSpc>
                <a:spcPts val="5040"/>
              </a:lnSpc>
              <a:spcBef>
                <a:spcPct val="0"/>
              </a:spcBef>
            </a:pPr>
            <a:r>
              <a:rPr lang="en-US" sz="3600">
                <a:solidFill>
                  <a:srgbClr val="000000"/>
                </a:solidFill>
                <a:latin typeface="Noto Sans"/>
                <a:ea typeface="Noto Sans"/>
                <a:cs typeface="Noto Sans"/>
                <a:sym typeface="Noto Sans"/>
              </a:rPr>
              <a:t>Dương Kim Ngân</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2423877" y="1457496"/>
            <a:ext cx="13534191" cy="1094740"/>
          </a:xfrm>
          <a:prstGeom prst="rect">
            <a:avLst/>
          </a:prstGeom>
        </p:spPr>
        <p:txBody>
          <a:bodyPr anchor="t" rtlCol="false" tIns="0" lIns="0" bIns="0" rIns="0">
            <a:spAutoFit/>
          </a:bodyPr>
          <a:lstStyle/>
          <a:p>
            <a:pPr algn="ctr">
              <a:lnSpc>
                <a:spcPts val="8959"/>
              </a:lnSpc>
              <a:spcBef>
                <a:spcPct val="0"/>
              </a:spcBef>
            </a:pPr>
            <a:r>
              <a:rPr lang="en-US" b="true" sz="6399">
                <a:solidFill>
                  <a:srgbClr val="000000"/>
                </a:solidFill>
                <a:latin typeface="Noto Sans Bold"/>
                <a:ea typeface="Noto Sans Bold"/>
                <a:cs typeface="Noto Sans Bold"/>
                <a:sym typeface="Noto Sans Bold"/>
              </a:rPr>
              <a:t>LÝ DO CHỌ</a:t>
            </a:r>
            <a:r>
              <a:rPr lang="en-US" b="true" sz="6399">
                <a:solidFill>
                  <a:srgbClr val="000000"/>
                </a:solidFill>
                <a:latin typeface="Noto Sans Bold"/>
                <a:ea typeface="Noto Sans Bold"/>
                <a:cs typeface="Noto Sans Bold"/>
                <a:sym typeface="Noto Sans Bold"/>
              </a:rPr>
              <a:t>N ĐỀ TÀI VÀ MỤC ĐÍCH</a:t>
            </a:r>
          </a:p>
        </p:txBody>
      </p:sp>
      <p:sp>
        <p:nvSpPr>
          <p:cNvPr name="TextBox 4" id="4"/>
          <p:cNvSpPr txBox="true"/>
          <p:nvPr/>
        </p:nvSpPr>
        <p:spPr>
          <a:xfrm rot="0">
            <a:off x="465748" y="3049235"/>
            <a:ext cx="17450449" cy="5605928"/>
          </a:xfrm>
          <a:prstGeom prst="rect">
            <a:avLst/>
          </a:prstGeom>
        </p:spPr>
        <p:txBody>
          <a:bodyPr anchor="t" rtlCol="false" tIns="0" lIns="0" bIns="0" rIns="0">
            <a:spAutoFit/>
          </a:bodyPr>
          <a:lstStyle/>
          <a:p>
            <a:pPr algn="l">
              <a:lnSpc>
                <a:spcPts val="4436"/>
              </a:lnSpc>
            </a:pPr>
            <a:r>
              <a:rPr lang="en-US" sz="3169" b="true">
                <a:solidFill>
                  <a:srgbClr val="000000"/>
                </a:solidFill>
                <a:latin typeface="Noto Sans Bold"/>
                <a:ea typeface="Noto Sans Bold"/>
                <a:cs typeface="Noto Sans Bold"/>
                <a:sym typeface="Noto Sans Bold"/>
              </a:rPr>
              <a:t>Lý do chọn đề tài:</a:t>
            </a:r>
          </a:p>
          <a:p>
            <a:pPr algn="l" marL="684222" indent="-342111" lvl="1">
              <a:lnSpc>
                <a:spcPts val="4436"/>
              </a:lnSpc>
              <a:spcBef>
                <a:spcPct val="0"/>
              </a:spcBef>
              <a:buFont typeface="Arial"/>
              <a:buChar char="•"/>
            </a:pPr>
            <a:r>
              <a:rPr lang="en-US" sz="3169">
                <a:solidFill>
                  <a:srgbClr val="000000"/>
                </a:solidFill>
                <a:latin typeface="Noto Sans"/>
                <a:ea typeface="Noto Sans"/>
                <a:cs typeface="Noto Sans"/>
                <a:sym typeface="Noto Sans"/>
              </a:rPr>
              <a:t>Nhu cầu truyền tả</a:t>
            </a:r>
            <a:r>
              <a:rPr lang="en-US" sz="3169">
                <a:solidFill>
                  <a:srgbClr val="000000"/>
                </a:solidFill>
                <a:latin typeface="Noto Sans"/>
                <a:ea typeface="Noto Sans"/>
                <a:cs typeface="Noto Sans"/>
                <a:sym typeface="Noto Sans"/>
              </a:rPr>
              <a:t>i đồng thời nhiều tập tin dung lượng lớn giữa các máy tính trong mạng nội bộ (LAN) ngày càng phổ biến.</a:t>
            </a:r>
          </a:p>
          <a:p>
            <a:pPr algn="l" marL="684222" indent="-342111" lvl="1">
              <a:lnSpc>
                <a:spcPts val="4436"/>
              </a:lnSpc>
              <a:spcBef>
                <a:spcPct val="0"/>
              </a:spcBef>
              <a:buFont typeface="Arial"/>
              <a:buChar char="•"/>
            </a:pPr>
            <a:r>
              <a:rPr lang="en-US" sz="3169">
                <a:solidFill>
                  <a:srgbClr val="000000"/>
                </a:solidFill>
                <a:latin typeface="Noto Sans"/>
                <a:ea typeface="Noto Sans"/>
                <a:cs typeface="Noto Sans"/>
                <a:sym typeface="Noto Sans"/>
              </a:rPr>
              <a:t>Các giao thức truyền file thông thường (như HTTP/Web) thường tốn nhiều tài nguyên overhead và khó can thiệp sâu để tối ưu hóa tốc độ khi truyền hàng loạt file.</a:t>
            </a:r>
          </a:p>
          <a:p>
            <a:pPr algn="l" marL="684222" indent="-342111" lvl="1">
              <a:lnSpc>
                <a:spcPts val="4436"/>
              </a:lnSpc>
              <a:spcBef>
                <a:spcPct val="0"/>
              </a:spcBef>
              <a:buFont typeface="Arial"/>
              <a:buChar char="•"/>
            </a:pPr>
            <a:r>
              <a:rPr lang="en-US" sz="3169">
                <a:solidFill>
                  <a:srgbClr val="000000"/>
                </a:solidFill>
                <a:latin typeface="Noto Sans"/>
                <a:ea typeface="Noto Sans"/>
                <a:cs typeface="Noto Sans"/>
                <a:sym typeface="Noto Sans"/>
              </a:rPr>
              <a:t>Cần một giải pháp truyền file chuyên dụng, gọn nhẹ, có thể chủ động kiểm soát băng thông, hàng đợi và xử lý kéo thả dữ liệu nhanh chóng.</a:t>
            </a:r>
          </a:p>
          <a:p>
            <a:pPr algn="l">
              <a:lnSpc>
                <a:spcPts val="4436"/>
              </a:lnSpc>
              <a:spcBef>
                <a:spcPct val="0"/>
              </a:spcBef>
            </a:pPr>
            <a:r>
              <a:rPr lang="en-US" b="true" sz="3169">
                <a:solidFill>
                  <a:srgbClr val="000000"/>
                </a:solidFill>
                <a:latin typeface="Noto Sans Bold"/>
                <a:ea typeface="Noto Sans Bold"/>
                <a:cs typeface="Noto Sans Bold"/>
                <a:sym typeface="Noto Sans Bold"/>
              </a:rPr>
              <a:t>Mục đích dự án</a:t>
            </a:r>
            <a:r>
              <a:rPr lang="en-US" sz="3169">
                <a:solidFill>
                  <a:srgbClr val="000000"/>
                </a:solidFill>
                <a:latin typeface="Noto Sans"/>
                <a:ea typeface="Noto Sans"/>
                <a:cs typeface="Noto Sans"/>
                <a:sym typeface="Noto Sans"/>
              </a:rPr>
              <a:t>: Xây dựng một hệ thống Client - Server truyền file qua Socket gốc ổn định, có giao diện đồ họa hỗ trợ kéo thả mượt mà và không làm đơ máy khi tải nặng.</a:t>
            </a:r>
          </a:p>
          <a:p>
            <a:pPr algn="l">
              <a:lnSpc>
                <a:spcPts val="4436"/>
              </a:lnSpc>
              <a:spcBef>
                <a:spcPct val="0"/>
              </a:spcBef>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1872853" y="1434009"/>
            <a:ext cx="14542294" cy="1094740"/>
          </a:xfrm>
          <a:prstGeom prst="rect">
            <a:avLst/>
          </a:prstGeom>
        </p:spPr>
        <p:txBody>
          <a:bodyPr anchor="t" rtlCol="false" tIns="0" lIns="0" bIns="0" rIns="0">
            <a:spAutoFit/>
          </a:bodyPr>
          <a:lstStyle/>
          <a:p>
            <a:pPr algn="ctr">
              <a:lnSpc>
                <a:spcPts val="8959"/>
              </a:lnSpc>
              <a:spcBef>
                <a:spcPct val="0"/>
              </a:spcBef>
            </a:pPr>
            <a:r>
              <a:rPr lang="en-US" b="true" sz="6399">
                <a:solidFill>
                  <a:srgbClr val="000000"/>
                </a:solidFill>
                <a:latin typeface="Noto Sans Bold"/>
                <a:ea typeface="Noto Sans Bold"/>
                <a:cs typeface="Noto Sans Bold"/>
                <a:sym typeface="Noto Sans Bold"/>
              </a:rPr>
              <a:t>LUỒNG HOẠT ĐỘNG CỦA HỆ THỐNG</a:t>
            </a:r>
          </a:p>
        </p:txBody>
      </p:sp>
      <p:sp>
        <p:nvSpPr>
          <p:cNvPr name="TextBox 4" id="4"/>
          <p:cNvSpPr txBox="true"/>
          <p:nvPr/>
        </p:nvSpPr>
        <p:spPr>
          <a:xfrm rot="0">
            <a:off x="1224814" y="2875767"/>
            <a:ext cx="15321671" cy="5465556"/>
          </a:xfrm>
          <a:prstGeom prst="rect">
            <a:avLst/>
          </a:prstGeom>
        </p:spPr>
        <p:txBody>
          <a:bodyPr anchor="t" rtlCol="false" tIns="0" lIns="0" bIns="0" rIns="0">
            <a:spAutoFit/>
          </a:bodyPr>
          <a:lstStyle/>
          <a:p>
            <a:pPr algn="l">
              <a:lnSpc>
                <a:spcPts val="4823"/>
              </a:lnSpc>
              <a:spcBef>
                <a:spcPct val="0"/>
              </a:spcBef>
            </a:pPr>
            <a:r>
              <a:rPr lang="en-US" b="true" sz="3445">
                <a:solidFill>
                  <a:srgbClr val="000000"/>
                </a:solidFill>
                <a:latin typeface="Noto Sans Bold"/>
                <a:ea typeface="Noto Sans Bold"/>
                <a:cs typeface="Noto Sans Bold"/>
                <a:sym typeface="Noto Sans Bold"/>
              </a:rPr>
              <a:t>Phía Client</a:t>
            </a:r>
            <a:r>
              <a:rPr lang="en-US" sz="3445">
                <a:solidFill>
                  <a:srgbClr val="000000"/>
                </a:solidFill>
                <a:latin typeface="Noto Sans"/>
                <a:ea typeface="Noto Sans"/>
                <a:cs typeface="Noto Sans"/>
                <a:sym typeface="Noto Sans"/>
              </a:rPr>
              <a:t>: Người dùng kết nối mạng -&gt; Kéo thả loạt file vào danh sách -&gt; Hệ thống tự động xếp hàng đợi và mở tối đa 3 luồng gửi file song song.</a:t>
            </a:r>
          </a:p>
          <a:p>
            <a:pPr algn="l">
              <a:lnSpc>
                <a:spcPts val="4823"/>
              </a:lnSpc>
              <a:spcBef>
                <a:spcPct val="0"/>
              </a:spcBef>
            </a:pPr>
            <a:r>
              <a:rPr lang="en-US" b="true" sz="3445">
                <a:solidFill>
                  <a:srgbClr val="000000"/>
                </a:solidFill>
                <a:latin typeface="Noto Sans Bold"/>
                <a:ea typeface="Noto Sans Bold"/>
                <a:cs typeface="Noto Sans Bold"/>
                <a:sym typeface="Noto Sans Bold"/>
              </a:rPr>
              <a:t>Giao thức đóng gói</a:t>
            </a:r>
            <a:r>
              <a:rPr lang="en-US" sz="3445">
                <a:solidFill>
                  <a:srgbClr val="000000"/>
                </a:solidFill>
                <a:latin typeface="Noto Sans"/>
                <a:ea typeface="Noto Sans"/>
                <a:cs typeface="Noto Sans"/>
                <a:sym typeface="Noto Sans"/>
              </a:rPr>
              <a:t>: File được băm nhỏ thành các mảng Byte và gắn kèm thông tin (FILE Header + Tên file + Kích thước) trước khi đẩy vào luồng mạng.</a:t>
            </a:r>
          </a:p>
          <a:p>
            <a:pPr algn="l">
              <a:lnSpc>
                <a:spcPts val="4823"/>
              </a:lnSpc>
              <a:spcBef>
                <a:spcPct val="0"/>
              </a:spcBef>
            </a:pPr>
            <a:r>
              <a:rPr lang="en-US" b="true" sz="3445">
                <a:solidFill>
                  <a:srgbClr val="000000"/>
                </a:solidFill>
                <a:latin typeface="Noto Sans Bold"/>
                <a:ea typeface="Noto Sans Bold"/>
                <a:cs typeface="Noto Sans Bold"/>
                <a:sym typeface="Noto Sans Bold"/>
              </a:rPr>
              <a:t>Phía Server</a:t>
            </a:r>
            <a:r>
              <a:rPr lang="en-US" sz="3445">
                <a:solidFill>
                  <a:srgbClr val="000000"/>
                </a:solidFill>
                <a:latin typeface="Noto Sans"/>
                <a:ea typeface="Noto Sans"/>
                <a:cs typeface="Noto Sans"/>
                <a:sym typeface="Noto Sans"/>
              </a:rPr>
              <a:t>: Lắng nghe kết nối -&gt; Đọc cấu trúc gói tin để nhận diện -&gt; Tạo file trống trên ổ cứng -&gt; Hứng các mảng Byte (khối đệm 64KB) và ghi trực tiếp xuống đĩa cho đến khi hoàn thành.</a:t>
            </a:r>
          </a:p>
          <a:p>
            <a:pPr algn="l">
              <a:lnSpc>
                <a:spcPts val="4823"/>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grpSp>
        <p:nvGrpSpPr>
          <p:cNvPr name="Group 3" id="3"/>
          <p:cNvGrpSpPr/>
          <p:nvPr/>
        </p:nvGrpSpPr>
        <p:grpSpPr>
          <a:xfrm rot="0">
            <a:off x="9180012" y="2541990"/>
            <a:ext cx="8890067" cy="5647851"/>
            <a:chOff x="0" y="0"/>
            <a:chExt cx="2341417" cy="1487500"/>
          </a:xfrm>
        </p:grpSpPr>
        <p:sp>
          <p:nvSpPr>
            <p:cNvPr name="Freeform 4" id="4"/>
            <p:cNvSpPr/>
            <p:nvPr/>
          </p:nvSpPr>
          <p:spPr>
            <a:xfrm flipH="false" flipV="false" rot="0">
              <a:off x="0" y="0"/>
              <a:ext cx="2341417" cy="1487500"/>
            </a:xfrm>
            <a:custGeom>
              <a:avLst/>
              <a:gdLst/>
              <a:ahLst/>
              <a:cxnLst/>
              <a:rect r="r" b="b" t="t" l="l"/>
              <a:pathLst>
                <a:path h="1487500" w="2341417">
                  <a:moveTo>
                    <a:pt x="0" y="0"/>
                  </a:moveTo>
                  <a:lnTo>
                    <a:pt x="2341417" y="0"/>
                  </a:lnTo>
                  <a:lnTo>
                    <a:pt x="2341417" y="1487500"/>
                  </a:lnTo>
                  <a:lnTo>
                    <a:pt x="0" y="1487500"/>
                  </a:lnTo>
                  <a:close/>
                </a:path>
              </a:pathLst>
            </a:custGeom>
            <a:solidFill>
              <a:srgbClr val="16848C"/>
            </a:solidFill>
          </p:spPr>
        </p:sp>
        <p:sp>
          <p:nvSpPr>
            <p:cNvPr name="TextBox 5" id="5"/>
            <p:cNvSpPr txBox="true"/>
            <p:nvPr/>
          </p:nvSpPr>
          <p:spPr>
            <a:xfrm>
              <a:off x="0" y="-38100"/>
              <a:ext cx="2341417" cy="1525600"/>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9463628" y="2706703"/>
            <a:ext cx="8322835" cy="5260759"/>
          </a:xfrm>
          <a:custGeom>
            <a:avLst/>
            <a:gdLst/>
            <a:ahLst/>
            <a:cxnLst/>
            <a:rect r="r" b="b" t="t" l="l"/>
            <a:pathLst>
              <a:path h="5260759" w="8322835">
                <a:moveTo>
                  <a:pt x="0" y="0"/>
                </a:moveTo>
                <a:lnTo>
                  <a:pt x="8322835" y="0"/>
                </a:lnTo>
                <a:lnTo>
                  <a:pt x="8322835" y="5260759"/>
                </a:lnTo>
                <a:lnTo>
                  <a:pt x="0" y="5260759"/>
                </a:lnTo>
                <a:lnTo>
                  <a:pt x="0" y="0"/>
                </a:lnTo>
                <a:close/>
              </a:path>
            </a:pathLst>
          </a:custGeom>
          <a:blipFill>
            <a:blip r:embed="rId3"/>
            <a:stretch>
              <a:fillRect l="-412" t="0" r="0" b="0"/>
            </a:stretch>
          </a:blipFill>
          <a:ln cap="sq">
            <a:noFill/>
            <a:prstDash val="solid"/>
            <a:miter/>
          </a:ln>
        </p:spPr>
      </p:sp>
      <p:sp>
        <p:nvSpPr>
          <p:cNvPr name="TextBox 7" id="7"/>
          <p:cNvSpPr txBox="true"/>
          <p:nvPr/>
        </p:nvSpPr>
        <p:spPr>
          <a:xfrm rot="0">
            <a:off x="4700651" y="1268000"/>
            <a:ext cx="9525953"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TỔNG</a:t>
            </a:r>
            <a:r>
              <a:rPr lang="en-US" b="true" sz="4800">
                <a:solidFill>
                  <a:srgbClr val="000000"/>
                </a:solidFill>
                <a:latin typeface="Noto Sans Bold"/>
                <a:ea typeface="Noto Sans Bold"/>
                <a:cs typeface="Noto Sans Bold"/>
                <a:sym typeface="Noto Sans Bold"/>
              </a:rPr>
              <a:t> QUAN GIAO DIỆN CLIENT</a:t>
            </a:r>
          </a:p>
        </p:txBody>
      </p:sp>
      <p:sp>
        <p:nvSpPr>
          <p:cNvPr name="TextBox 8" id="8"/>
          <p:cNvSpPr txBox="true"/>
          <p:nvPr/>
        </p:nvSpPr>
        <p:spPr>
          <a:xfrm rot="0">
            <a:off x="173766" y="2326839"/>
            <a:ext cx="8495789" cy="6380434"/>
          </a:xfrm>
          <a:prstGeom prst="rect">
            <a:avLst/>
          </a:prstGeom>
        </p:spPr>
        <p:txBody>
          <a:bodyPr anchor="t" rtlCol="false" tIns="0" lIns="0" bIns="0" rIns="0">
            <a:spAutoFit/>
          </a:bodyPr>
          <a:lstStyle/>
          <a:p>
            <a:pPr algn="l" marL="658887" indent="-329444" lvl="1">
              <a:lnSpc>
                <a:spcPts val="4272"/>
              </a:lnSpc>
              <a:buFont typeface="Arial"/>
              <a:buChar char="•"/>
            </a:pPr>
            <a:r>
              <a:rPr lang="en-US" b="true" sz="3051">
                <a:solidFill>
                  <a:srgbClr val="000000"/>
                </a:solidFill>
                <a:latin typeface="Noto Sans Bold"/>
                <a:ea typeface="Noto Sans Bold"/>
                <a:cs typeface="Noto Sans Bold"/>
                <a:sym typeface="Noto Sans Bold"/>
              </a:rPr>
              <a:t>Mục tiêu:</a:t>
            </a:r>
            <a:r>
              <a:rPr lang="en-US" sz="3051">
                <a:solidFill>
                  <a:srgbClr val="000000"/>
                </a:solidFill>
                <a:latin typeface="Noto Sans"/>
                <a:ea typeface="Noto Sans"/>
                <a:cs typeface="Noto Sans"/>
                <a:sym typeface="Noto Sans"/>
              </a:rPr>
              <a:t> Thiết kế giao diện trực quan, tối giản thao tác và phản hồi trạng thái tức thì cho người dùng.</a:t>
            </a:r>
          </a:p>
          <a:p>
            <a:pPr algn="l" marL="658887" indent="-329444" lvl="1">
              <a:lnSpc>
                <a:spcPts val="4272"/>
              </a:lnSpc>
              <a:buFont typeface="Arial"/>
              <a:buChar char="•"/>
            </a:pPr>
            <a:r>
              <a:rPr lang="en-US" b="true" sz="3051">
                <a:solidFill>
                  <a:srgbClr val="000000"/>
                </a:solidFill>
                <a:latin typeface="Noto Sans Bold"/>
                <a:ea typeface="Noto Sans Bold"/>
                <a:cs typeface="Noto Sans Bold"/>
                <a:sym typeface="Noto Sans Bold"/>
              </a:rPr>
              <a:t>Công nghệ WPF (.NET): </a:t>
            </a:r>
            <a:r>
              <a:rPr lang="en-US" sz="3051">
                <a:solidFill>
                  <a:srgbClr val="000000"/>
                </a:solidFill>
                <a:latin typeface="Noto Sans"/>
                <a:ea typeface="Noto Sans"/>
                <a:cs typeface="Noto Sans"/>
                <a:sym typeface="Noto Sans"/>
              </a:rPr>
              <a:t>Xây dựng giao diện bằng XAML và xử lý nghiệp vụ bằng C# Code-behind, giúp tách biệt giữa phần giao diện và phần logic.</a:t>
            </a:r>
          </a:p>
          <a:p>
            <a:pPr algn="l" marL="658887" indent="-329444" lvl="1">
              <a:lnSpc>
                <a:spcPts val="4272"/>
              </a:lnSpc>
              <a:buFont typeface="Arial"/>
              <a:buChar char="•"/>
            </a:pPr>
            <a:r>
              <a:rPr lang="en-US" b="true" sz="3051">
                <a:solidFill>
                  <a:srgbClr val="000000"/>
                </a:solidFill>
                <a:latin typeface="Noto Sans Bold"/>
                <a:ea typeface="Noto Sans Bold"/>
                <a:cs typeface="Noto Sans Bold"/>
                <a:sym typeface="Noto Sans Bold"/>
              </a:rPr>
              <a:t>Hệ thống Design System:</a:t>
            </a:r>
            <a:r>
              <a:rPr lang="en-US" sz="3051">
                <a:solidFill>
                  <a:srgbClr val="000000"/>
                </a:solidFill>
                <a:latin typeface="Noto Sans"/>
                <a:ea typeface="Noto Sans"/>
                <a:cs typeface="Noto Sans"/>
                <a:sym typeface="Noto Sans"/>
              </a:rPr>
              <a:t> Tái sử dụng các Style (PrimaryButtonStyle, BaseButtonStyle, BaseTextBoxStyle) thông qua Window.Resources, đảm bảo giao diện thống nhất và dễ bảo trì.</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143095"/>
            <a:ext cx="18288000" cy="10281980"/>
          </a:xfrm>
          <a:custGeom>
            <a:avLst/>
            <a:gdLst/>
            <a:ahLst/>
            <a:cxnLst/>
            <a:rect r="r" b="b" t="t" l="l"/>
            <a:pathLst>
              <a:path h="10281980" w="18288000">
                <a:moveTo>
                  <a:pt x="0" y="0"/>
                </a:moveTo>
                <a:lnTo>
                  <a:pt x="18288000" y="0"/>
                </a:lnTo>
                <a:lnTo>
                  <a:pt x="18288000" y="10281979"/>
                </a:lnTo>
                <a:lnTo>
                  <a:pt x="0" y="10281979"/>
                </a:lnTo>
                <a:lnTo>
                  <a:pt x="0" y="0"/>
                </a:lnTo>
                <a:close/>
              </a:path>
            </a:pathLst>
          </a:custGeom>
          <a:blipFill>
            <a:blip r:embed="rId2"/>
            <a:stretch>
              <a:fillRect l="0" t="0" r="0" b="0"/>
            </a:stretch>
          </a:blipFill>
        </p:spPr>
      </p:sp>
      <p:grpSp>
        <p:nvGrpSpPr>
          <p:cNvPr name="Group 3" id="3"/>
          <p:cNvGrpSpPr/>
          <p:nvPr/>
        </p:nvGrpSpPr>
        <p:grpSpPr>
          <a:xfrm rot="0">
            <a:off x="11431326" y="-593129"/>
            <a:ext cx="9250313" cy="9250313"/>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6848C">
                <a:alpha val="78824"/>
              </a:srgbClr>
            </a:solidFill>
          </p:spPr>
        </p:sp>
        <p:sp>
          <p:nvSpPr>
            <p:cNvPr name="TextBox 5" id="5"/>
            <p:cNvSpPr txBox="true"/>
            <p:nvPr/>
          </p:nvSpPr>
          <p:spPr>
            <a:xfrm>
              <a:off x="76200" y="38100"/>
              <a:ext cx="660400" cy="698500"/>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2349603" y="1948608"/>
            <a:ext cx="10109020" cy="6389784"/>
          </a:xfrm>
          <a:custGeom>
            <a:avLst/>
            <a:gdLst/>
            <a:ahLst/>
            <a:cxnLst/>
            <a:rect r="r" b="b" t="t" l="l"/>
            <a:pathLst>
              <a:path h="6389784" w="10109020">
                <a:moveTo>
                  <a:pt x="0" y="0"/>
                </a:moveTo>
                <a:lnTo>
                  <a:pt x="10109020" y="0"/>
                </a:lnTo>
                <a:lnTo>
                  <a:pt x="10109020" y="6389784"/>
                </a:lnTo>
                <a:lnTo>
                  <a:pt x="0" y="6389784"/>
                </a:lnTo>
                <a:lnTo>
                  <a:pt x="0" y="0"/>
                </a:lnTo>
                <a:close/>
              </a:path>
            </a:pathLst>
          </a:custGeom>
          <a:blipFill>
            <a:blip r:embed="rId3"/>
            <a:stretch>
              <a:fillRect l="-412" t="0" r="0" b="0"/>
            </a:stretch>
          </a:blipFill>
          <a:ln w="38100" cap="sq">
            <a:solidFill>
              <a:srgbClr val="000000"/>
            </a:solidFill>
            <a:prstDash val="solid"/>
            <a:miter/>
          </a:ln>
        </p:spPr>
      </p:sp>
      <p:sp>
        <p:nvSpPr>
          <p:cNvPr name="AutoShape 7" id="7"/>
          <p:cNvSpPr/>
          <p:nvPr/>
        </p:nvSpPr>
        <p:spPr>
          <a:xfrm>
            <a:off x="2349603" y="3631335"/>
            <a:ext cx="10109020" cy="0"/>
          </a:xfrm>
          <a:prstGeom prst="line">
            <a:avLst/>
          </a:prstGeom>
          <a:ln cap="flat" w="38100">
            <a:solidFill>
              <a:srgbClr val="000000"/>
            </a:solidFill>
            <a:prstDash val="solid"/>
            <a:headEnd type="none" len="sm" w="sm"/>
            <a:tailEnd type="none" len="sm" w="sm"/>
          </a:ln>
        </p:spPr>
      </p:sp>
      <p:sp>
        <p:nvSpPr>
          <p:cNvPr name="AutoShape 8" id="8"/>
          <p:cNvSpPr/>
          <p:nvPr/>
        </p:nvSpPr>
        <p:spPr>
          <a:xfrm>
            <a:off x="2349603" y="5143500"/>
            <a:ext cx="10109020" cy="0"/>
          </a:xfrm>
          <a:prstGeom prst="line">
            <a:avLst/>
          </a:prstGeom>
          <a:ln cap="flat" w="38100">
            <a:solidFill>
              <a:srgbClr val="000000"/>
            </a:solidFill>
            <a:prstDash val="solid"/>
            <a:headEnd type="none" len="sm" w="sm"/>
            <a:tailEnd type="none" len="sm" w="sm"/>
          </a:ln>
        </p:spPr>
      </p:sp>
      <p:sp>
        <p:nvSpPr>
          <p:cNvPr name="TextBox 9" id="9"/>
          <p:cNvSpPr txBox="true"/>
          <p:nvPr/>
        </p:nvSpPr>
        <p:spPr>
          <a:xfrm rot="0">
            <a:off x="527887" y="2414804"/>
            <a:ext cx="1399460" cy="515196"/>
          </a:xfrm>
          <a:prstGeom prst="rect">
            <a:avLst/>
          </a:prstGeom>
        </p:spPr>
        <p:txBody>
          <a:bodyPr anchor="t" rtlCol="false" tIns="0" lIns="0" bIns="0" rIns="0">
            <a:spAutoFit/>
          </a:bodyPr>
          <a:lstStyle/>
          <a:p>
            <a:pPr algn="l">
              <a:lnSpc>
                <a:spcPts val="4240"/>
              </a:lnSpc>
              <a:spcBef>
                <a:spcPct val="0"/>
              </a:spcBef>
            </a:pPr>
            <a:r>
              <a:rPr lang="en-US" b="true" sz="3029">
                <a:solidFill>
                  <a:srgbClr val="000000"/>
                </a:solidFill>
                <a:latin typeface="Noto Sans Bold"/>
                <a:ea typeface="Noto Sans Bold"/>
                <a:cs typeface="Noto Sans Bold"/>
                <a:sym typeface="Noto Sans Bold"/>
              </a:rPr>
              <a:t>Hea</a:t>
            </a:r>
            <a:r>
              <a:rPr lang="en-US" b="true" sz="3029">
                <a:solidFill>
                  <a:srgbClr val="000000"/>
                </a:solidFill>
                <a:latin typeface="Noto Sans Bold"/>
                <a:ea typeface="Noto Sans Bold"/>
                <a:cs typeface="Noto Sans Bold"/>
                <a:sym typeface="Noto Sans Bold"/>
              </a:rPr>
              <a:t>der</a:t>
            </a:r>
          </a:p>
        </p:txBody>
      </p:sp>
      <p:sp>
        <p:nvSpPr>
          <p:cNvPr name="TextBox 10" id="10"/>
          <p:cNvSpPr txBox="true"/>
          <p:nvPr/>
        </p:nvSpPr>
        <p:spPr>
          <a:xfrm rot="0">
            <a:off x="105631" y="3842846"/>
            <a:ext cx="2243972" cy="1029755"/>
          </a:xfrm>
          <a:prstGeom prst="rect">
            <a:avLst/>
          </a:prstGeom>
        </p:spPr>
        <p:txBody>
          <a:bodyPr anchor="t" rtlCol="false" tIns="0" lIns="0" bIns="0" rIns="0">
            <a:spAutoFit/>
          </a:bodyPr>
          <a:lstStyle/>
          <a:p>
            <a:pPr algn="ctr">
              <a:lnSpc>
                <a:spcPts val="4141"/>
              </a:lnSpc>
              <a:spcBef>
                <a:spcPct val="0"/>
              </a:spcBef>
            </a:pPr>
            <a:r>
              <a:rPr lang="en-US" b="true" sz="2958">
                <a:solidFill>
                  <a:srgbClr val="000000"/>
                </a:solidFill>
                <a:latin typeface="Noto Sans Bold"/>
                <a:ea typeface="Noto Sans Bold"/>
                <a:cs typeface="Noto Sans Bold"/>
                <a:sym typeface="Noto Sans Bold"/>
              </a:rPr>
              <a:t>Control Panel</a:t>
            </a:r>
          </a:p>
        </p:txBody>
      </p:sp>
      <p:sp>
        <p:nvSpPr>
          <p:cNvPr name="TextBox 11" id="11"/>
          <p:cNvSpPr txBox="true"/>
          <p:nvPr/>
        </p:nvSpPr>
        <p:spPr>
          <a:xfrm rot="0">
            <a:off x="105631" y="6581775"/>
            <a:ext cx="2243972" cy="519678"/>
          </a:xfrm>
          <a:prstGeom prst="rect">
            <a:avLst/>
          </a:prstGeom>
        </p:spPr>
        <p:txBody>
          <a:bodyPr anchor="t" rtlCol="false" tIns="0" lIns="0" bIns="0" rIns="0">
            <a:spAutoFit/>
          </a:bodyPr>
          <a:lstStyle/>
          <a:p>
            <a:pPr algn="l">
              <a:lnSpc>
                <a:spcPts val="4282"/>
              </a:lnSpc>
              <a:spcBef>
                <a:spcPct val="0"/>
              </a:spcBef>
            </a:pPr>
            <a:r>
              <a:rPr lang="en-US" b="true" sz="3058">
                <a:solidFill>
                  <a:srgbClr val="000000"/>
                </a:solidFill>
                <a:latin typeface="Noto Sans Bold"/>
                <a:ea typeface="Noto Sans Bold"/>
                <a:cs typeface="Noto Sans Bold"/>
                <a:sym typeface="Noto Sans Bold"/>
              </a:rPr>
              <a:t>Dynam</a:t>
            </a:r>
            <a:r>
              <a:rPr lang="en-US" b="true" sz="3058">
                <a:solidFill>
                  <a:srgbClr val="000000"/>
                </a:solidFill>
                <a:latin typeface="Noto Sans Bold"/>
                <a:ea typeface="Noto Sans Bold"/>
                <a:cs typeface="Noto Sans Bold"/>
                <a:sym typeface="Noto Sans Bold"/>
              </a:rPr>
              <a:t>ic UI</a:t>
            </a:r>
          </a:p>
        </p:txBody>
      </p:sp>
      <p:sp>
        <p:nvSpPr>
          <p:cNvPr name="TextBox 12" id="12"/>
          <p:cNvSpPr txBox="true"/>
          <p:nvPr/>
        </p:nvSpPr>
        <p:spPr>
          <a:xfrm rot="0">
            <a:off x="12458623" y="780354"/>
            <a:ext cx="5796399" cy="6739265"/>
          </a:xfrm>
          <a:prstGeom prst="rect">
            <a:avLst/>
          </a:prstGeom>
        </p:spPr>
        <p:txBody>
          <a:bodyPr anchor="t" rtlCol="false" tIns="0" lIns="0" bIns="0" rIns="0">
            <a:spAutoFit/>
          </a:bodyPr>
          <a:lstStyle/>
          <a:p>
            <a:pPr algn="ctr">
              <a:lnSpc>
                <a:spcPts val="4008"/>
              </a:lnSpc>
            </a:pPr>
            <a:r>
              <a:rPr lang="en-US" sz="2862" b="true">
                <a:solidFill>
                  <a:srgbClr val="000000"/>
                </a:solidFill>
                <a:latin typeface="Noto Sans Bold"/>
                <a:ea typeface="Noto Sans Bold"/>
                <a:cs typeface="Noto Sans Bold"/>
                <a:sym typeface="Noto Sans Bold"/>
              </a:rPr>
              <a:t>KIẾN TRÚC LƯỚI</a:t>
            </a:r>
          </a:p>
          <a:p>
            <a:pPr algn="l" marL="585588" indent="-292794" lvl="1">
              <a:lnSpc>
                <a:spcPts val="3797"/>
              </a:lnSpc>
              <a:buFont typeface="Arial"/>
              <a:buChar char="•"/>
            </a:pPr>
            <a:r>
              <a:rPr lang="en-US" sz="2712">
                <a:solidFill>
                  <a:srgbClr val="000000"/>
                </a:solidFill>
                <a:latin typeface="Noto Sans"/>
                <a:ea typeface="Noto Sans"/>
                <a:cs typeface="Noto Sans"/>
                <a:sym typeface="Noto Sans"/>
              </a:rPr>
              <a:t>Chia giao diện thành 3 khu vực chính: Kết nối Server, Điều khiển Upload và Quản lý Upload.</a:t>
            </a:r>
          </a:p>
          <a:p>
            <a:pPr algn="l" marL="585588" indent="-292794" lvl="1">
              <a:lnSpc>
                <a:spcPts val="3797"/>
              </a:lnSpc>
              <a:buFont typeface="Arial"/>
              <a:buChar char="•"/>
            </a:pPr>
            <a:r>
              <a:rPr lang="en-US" sz="2712">
                <a:solidFill>
                  <a:srgbClr val="000000"/>
                </a:solidFill>
                <a:latin typeface="Noto Sans"/>
                <a:ea typeface="Noto Sans"/>
                <a:cs typeface="Noto Sans"/>
                <a:sym typeface="Noto Sans"/>
              </a:rPr>
              <a:t>Sử dụng Grid để bố trí các thành phần theo hàng và cột, giúp giao diện rõ ràng và dễ sử dụng.</a:t>
            </a:r>
          </a:p>
          <a:p>
            <a:pPr algn="l" marL="585588" indent="-292794" lvl="1">
              <a:lnSpc>
                <a:spcPts val="3797"/>
              </a:lnSpc>
              <a:buFont typeface="Arial"/>
              <a:buChar char="•"/>
            </a:pPr>
            <a:r>
              <a:rPr lang="en-US" sz="2712">
                <a:solidFill>
                  <a:srgbClr val="000000"/>
                </a:solidFill>
                <a:latin typeface="Noto Sans"/>
                <a:ea typeface="Noto Sans"/>
                <a:cs typeface="Noto Sans"/>
                <a:sym typeface="Noto Sans"/>
              </a:rPr>
              <a:t>Thiết lập tỷ lệ cột 3 : 2** cùng với MinHeight và MinWidth để đảm bảo giao diện hiển thị ổn định trên nhiều kích thước cửa sổ.</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3156499" y="1310045"/>
            <a:ext cx="11622552" cy="2908842"/>
          </a:xfrm>
          <a:custGeom>
            <a:avLst/>
            <a:gdLst/>
            <a:ahLst/>
            <a:cxnLst/>
            <a:rect r="r" b="b" t="t" l="l"/>
            <a:pathLst>
              <a:path h="2908842" w="11622552">
                <a:moveTo>
                  <a:pt x="0" y="0"/>
                </a:moveTo>
                <a:lnTo>
                  <a:pt x="11622552" y="0"/>
                </a:lnTo>
                <a:lnTo>
                  <a:pt x="11622552" y="2908842"/>
                </a:lnTo>
                <a:lnTo>
                  <a:pt x="0" y="2908842"/>
                </a:lnTo>
                <a:lnTo>
                  <a:pt x="0" y="0"/>
                </a:lnTo>
                <a:close/>
              </a:path>
            </a:pathLst>
          </a:custGeom>
          <a:blipFill>
            <a:blip r:embed="rId3"/>
            <a:stretch>
              <a:fillRect l="0" t="0" r="0" b="0"/>
            </a:stretch>
          </a:blipFill>
        </p:spPr>
      </p:sp>
      <p:sp>
        <p:nvSpPr>
          <p:cNvPr name="TextBox 4" id="4"/>
          <p:cNvSpPr txBox="true"/>
          <p:nvPr/>
        </p:nvSpPr>
        <p:spPr>
          <a:xfrm rot="0">
            <a:off x="3830613" y="4327438"/>
            <a:ext cx="11598682" cy="5425717"/>
          </a:xfrm>
          <a:prstGeom prst="rect">
            <a:avLst/>
          </a:prstGeom>
        </p:spPr>
        <p:txBody>
          <a:bodyPr anchor="t" rtlCol="false" tIns="0" lIns="0" bIns="0" rIns="0">
            <a:spAutoFit/>
          </a:bodyPr>
          <a:lstStyle/>
          <a:p>
            <a:pPr algn="ctr">
              <a:lnSpc>
                <a:spcPts val="4338"/>
              </a:lnSpc>
            </a:pPr>
            <a:r>
              <a:rPr lang="en-US" sz="3098" b="true">
                <a:solidFill>
                  <a:srgbClr val="000000"/>
                </a:solidFill>
                <a:latin typeface="Noto Sans Bold"/>
                <a:ea typeface="Noto Sans Bold"/>
                <a:cs typeface="Noto Sans Bold"/>
                <a:sym typeface="Noto Sans Bold"/>
              </a:rPr>
              <a:t>Giao diện điều khiển</a:t>
            </a:r>
          </a:p>
          <a:p>
            <a:pPr algn="l" marL="669015" indent="-334508" lvl="1">
              <a:lnSpc>
                <a:spcPts val="4338"/>
              </a:lnSpc>
              <a:buFont typeface="Arial"/>
              <a:buChar char="•"/>
            </a:pPr>
            <a:r>
              <a:rPr lang="en-US" sz="3098">
                <a:solidFill>
                  <a:srgbClr val="000000"/>
                </a:solidFill>
                <a:latin typeface="Noto Sans"/>
                <a:ea typeface="Noto Sans"/>
                <a:cs typeface="Noto Sans"/>
                <a:sym typeface="Noto Sans"/>
              </a:rPr>
              <a:t>Cung cấp các chức năng kết nối Client với Server thông qua địa chỉ IP/Host và Port.</a:t>
            </a:r>
          </a:p>
          <a:p>
            <a:pPr algn="l" marL="669015" indent="-334508" lvl="1">
              <a:lnSpc>
                <a:spcPts val="4338"/>
              </a:lnSpc>
              <a:buFont typeface="Arial"/>
              <a:buChar char="•"/>
            </a:pPr>
            <a:r>
              <a:rPr lang="en-US" sz="3098">
                <a:solidFill>
                  <a:srgbClr val="000000"/>
                </a:solidFill>
                <a:latin typeface="Noto Sans"/>
                <a:ea typeface="Noto Sans"/>
                <a:cs typeface="Noto Sans"/>
                <a:sym typeface="Noto Sans"/>
              </a:rPr>
              <a:t>Hỗ trợ các thao tác điều khiển quá trình upload như chọn file, bắt đầu upload, tạm dừng, tiếp tục và xóa danh sách chờ.</a:t>
            </a:r>
          </a:p>
          <a:p>
            <a:pPr algn="l" marL="669015" indent="-334508" lvl="1">
              <a:lnSpc>
                <a:spcPts val="4338"/>
              </a:lnSpc>
              <a:buFont typeface="Arial"/>
              <a:buChar char="•"/>
            </a:pPr>
            <a:r>
              <a:rPr lang="en-US" sz="3098">
                <a:solidFill>
                  <a:srgbClr val="000000"/>
                </a:solidFill>
                <a:latin typeface="Noto Sans"/>
                <a:ea typeface="Noto Sans"/>
                <a:cs typeface="Noto Sans"/>
                <a:sym typeface="Noto Sans"/>
              </a:rPr>
              <a:t>Các nút chức năng được bố trí trực quan, giúp người dùng thao tác nhanh chóng.</a:t>
            </a:r>
          </a:p>
          <a:p>
            <a:pPr algn="l" marL="669015" indent="-334508" lvl="1">
              <a:lnSpc>
                <a:spcPts val="4338"/>
              </a:lnSpc>
              <a:buFont typeface="Arial"/>
              <a:buChar char="•"/>
            </a:pPr>
            <a:r>
              <a:rPr lang="en-US" sz="3098">
                <a:solidFill>
                  <a:srgbClr val="000000"/>
                </a:solidFill>
                <a:latin typeface="Noto Sans"/>
                <a:ea typeface="Noto Sans"/>
                <a:cs typeface="Noto Sans"/>
                <a:sym typeface="Noto Sans"/>
              </a:rPr>
              <a:t>Trạng thái của các nút được cập nhật theo quá trình hoạt động của Client.</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603577" y="5564260"/>
            <a:ext cx="9879967" cy="1350703"/>
          </a:xfrm>
          <a:custGeom>
            <a:avLst/>
            <a:gdLst/>
            <a:ahLst/>
            <a:cxnLst/>
            <a:rect r="r" b="b" t="t" l="l"/>
            <a:pathLst>
              <a:path h="1350703" w="9879967">
                <a:moveTo>
                  <a:pt x="0" y="0"/>
                </a:moveTo>
                <a:lnTo>
                  <a:pt x="9879968" y="0"/>
                </a:lnTo>
                <a:lnTo>
                  <a:pt x="9879968" y="1350703"/>
                </a:lnTo>
                <a:lnTo>
                  <a:pt x="0" y="1350703"/>
                </a:lnTo>
                <a:lnTo>
                  <a:pt x="0" y="0"/>
                </a:lnTo>
                <a:close/>
              </a:path>
            </a:pathLst>
          </a:custGeom>
          <a:blipFill>
            <a:blip r:embed="rId3"/>
            <a:stretch>
              <a:fillRect l="0" t="0" r="0" b="0"/>
            </a:stretch>
          </a:blipFill>
          <a:ln w="38100" cap="sq">
            <a:solidFill>
              <a:srgbClr val="000000"/>
            </a:solidFill>
            <a:prstDash val="solid"/>
            <a:miter/>
          </a:ln>
        </p:spPr>
      </p:sp>
      <p:sp>
        <p:nvSpPr>
          <p:cNvPr name="Freeform 4" id="4"/>
          <p:cNvSpPr/>
          <p:nvPr/>
        </p:nvSpPr>
        <p:spPr>
          <a:xfrm flipH="false" flipV="false" rot="0">
            <a:off x="603577" y="2630173"/>
            <a:ext cx="9879967" cy="1370905"/>
          </a:xfrm>
          <a:custGeom>
            <a:avLst/>
            <a:gdLst/>
            <a:ahLst/>
            <a:cxnLst/>
            <a:rect r="r" b="b" t="t" l="l"/>
            <a:pathLst>
              <a:path h="1370905" w="9879967">
                <a:moveTo>
                  <a:pt x="0" y="0"/>
                </a:moveTo>
                <a:lnTo>
                  <a:pt x="9879968" y="0"/>
                </a:lnTo>
                <a:lnTo>
                  <a:pt x="9879968" y="1370905"/>
                </a:lnTo>
                <a:lnTo>
                  <a:pt x="0" y="1370905"/>
                </a:lnTo>
                <a:lnTo>
                  <a:pt x="0" y="0"/>
                </a:lnTo>
                <a:close/>
              </a:path>
            </a:pathLst>
          </a:custGeom>
          <a:blipFill>
            <a:blip r:embed="rId4"/>
            <a:stretch>
              <a:fillRect l="0" t="0" r="0" b="0"/>
            </a:stretch>
          </a:blipFill>
          <a:ln w="38100" cap="sq">
            <a:solidFill>
              <a:srgbClr val="000000"/>
            </a:solidFill>
            <a:prstDash val="solid"/>
            <a:miter/>
          </a:ln>
        </p:spPr>
      </p:sp>
      <p:sp>
        <p:nvSpPr>
          <p:cNvPr name="AutoShape 5" id="5"/>
          <p:cNvSpPr/>
          <p:nvPr/>
        </p:nvSpPr>
        <p:spPr>
          <a:xfrm>
            <a:off x="5543561" y="4001078"/>
            <a:ext cx="41908" cy="2303216"/>
          </a:xfrm>
          <a:prstGeom prst="line">
            <a:avLst/>
          </a:prstGeom>
          <a:ln cap="flat" w="38100">
            <a:solidFill>
              <a:srgbClr val="000000"/>
            </a:solidFill>
            <a:prstDash val="solid"/>
            <a:headEnd type="none" len="sm" w="sm"/>
            <a:tailEnd type="triangle" len="med" w="lg"/>
          </a:ln>
        </p:spPr>
      </p:sp>
      <p:sp>
        <p:nvSpPr>
          <p:cNvPr name="TextBox 6" id="6"/>
          <p:cNvSpPr txBox="true"/>
          <p:nvPr/>
        </p:nvSpPr>
        <p:spPr>
          <a:xfrm rot="0">
            <a:off x="4483190" y="1955553"/>
            <a:ext cx="2120741" cy="513608"/>
          </a:xfrm>
          <a:prstGeom prst="rect">
            <a:avLst/>
          </a:prstGeom>
        </p:spPr>
        <p:txBody>
          <a:bodyPr anchor="t" rtlCol="false" tIns="0" lIns="0" bIns="0" rIns="0">
            <a:spAutoFit/>
          </a:bodyPr>
          <a:lstStyle/>
          <a:p>
            <a:pPr algn="ctr">
              <a:lnSpc>
                <a:spcPts val="4240"/>
              </a:lnSpc>
              <a:spcBef>
                <a:spcPct val="0"/>
              </a:spcBef>
            </a:pPr>
            <a:r>
              <a:rPr lang="en-US" sz="3029">
                <a:solidFill>
                  <a:srgbClr val="000000"/>
                </a:solidFill>
                <a:latin typeface="Noto Sans"/>
                <a:ea typeface="Noto Sans"/>
                <a:cs typeface="Noto Sans"/>
                <a:sym typeface="Noto Sans"/>
              </a:rPr>
              <a:t>Chưa có file</a:t>
            </a:r>
          </a:p>
        </p:txBody>
      </p:sp>
      <p:sp>
        <p:nvSpPr>
          <p:cNvPr name="TextBox 7" id="7"/>
          <p:cNvSpPr txBox="true"/>
          <p:nvPr/>
        </p:nvSpPr>
        <p:spPr>
          <a:xfrm rot="0">
            <a:off x="4522044" y="7019738"/>
            <a:ext cx="2043034" cy="464130"/>
          </a:xfrm>
          <a:prstGeom prst="rect">
            <a:avLst/>
          </a:prstGeom>
        </p:spPr>
        <p:txBody>
          <a:bodyPr anchor="t" rtlCol="false" tIns="0" lIns="0" bIns="0" rIns="0">
            <a:spAutoFit/>
          </a:bodyPr>
          <a:lstStyle/>
          <a:p>
            <a:pPr algn="ctr">
              <a:lnSpc>
                <a:spcPts val="3818"/>
              </a:lnSpc>
              <a:spcBef>
                <a:spcPct val="0"/>
              </a:spcBef>
            </a:pPr>
            <a:r>
              <a:rPr lang="en-US" sz="2727">
                <a:solidFill>
                  <a:srgbClr val="000000"/>
                </a:solidFill>
                <a:latin typeface="Noto Sans"/>
                <a:ea typeface="Noto Sans"/>
                <a:cs typeface="Noto Sans"/>
                <a:sym typeface="Noto Sans"/>
              </a:rPr>
              <a:t>Có file</a:t>
            </a:r>
          </a:p>
        </p:txBody>
      </p:sp>
      <p:sp>
        <p:nvSpPr>
          <p:cNvPr name="TextBox 8" id="8"/>
          <p:cNvSpPr txBox="true"/>
          <p:nvPr/>
        </p:nvSpPr>
        <p:spPr>
          <a:xfrm rot="0">
            <a:off x="10483545" y="1946028"/>
            <a:ext cx="7350265" cy="6730092"/>
          </a:xfrm>
          <a:prstGeom prst="rect">
            <a:avLst/>
          </a:prstGeom>
        </p:spPr>
        <p:txBody>
          <a:bodyPr anchor="t" rtlCol="false" tIns="0" lIns="0" bIns="0" rIns="0">
            <a:spAutoFit/>
          </a:bodyPr>
          <a:lstStyle/>
          <a:p>
            <a:pPr algn="ctr">
              <a:lnSpc>
                <a:spcPts val="4425"/>
              </a:lnSpc>
              <a:spcBef>
                <a:spcPct val="0"/>
              </a:spcBef>
            </a:pPr>
            <a:r>
              <a:rPr lang="en-US" b="true" sz="3160">
                <a:solidFill>
                  <a:srgbClr val="000000"/>
                </a:solidFill>
                <a:latin typeface="Noto Sans Bold"/>
                <a:ea typeface="Noto Sans Bold"/>
                <a:cs typeface="Noto Sans Bold"/>
                <a:sym typeface="Noto Sans Bold"/>
              </a:rPr>
              <a:t> TƯƠ</a:t>
            </a:r>
            <a:r>
              <a:rPr lang="en-US" b="true" sz="3160">
                <a:solidFill>
                  <a:srgbClr val="000000"/>
                </a:solidFill>
                <a:latin typeface="Noto Sans Bold"/>
                <a:ea typeface="Noto Sans Bold"/>
                <a:cs typeface="Noto Sans Bold"/>
                <a:sym typeface="Noto Sans Bold"/>
              </a:rPr>
              <a:t>NG TÁC KÉO &amp; THẢ</a:t>
            </a:r>
          </a:p>
          <a:p>
            <a:pPr algn="l" marL="682402" indent="-341201" lvl="1">
              <a:lnSpc>
                <a:spcPts val="4425"/>
              </a:lnSpc>
              <a:spcBef>
                <a:spcPct val="0"/>
              </a:spcBef>
              <a:buFont typeface="Arial"/>
              <a:buChar char="•"/>
            </a:pPr>
            <a:r>
              <a:rPr lang="en-US" b="true" sz="3160">
                <a:solidFill>
                  <a:srgbClr val="000000"/>
                </a:solidFill>
                <a:latin typeface="Noto Sans Bold"/>
                <a:ea typeface="Noto Sans Bold"/>
                <a:cs typeface="Noto Sans Bold"/>
                <a:sym typeface="Noto Sans Bold"/>
              </a:rPr>
              <a:t>Đơn giản hóa thao tác:</a:t>
            </a:r>
            <a:r>
              <a:rPr lang="en-US" sz="3160">
                <a:solidFill>
                  <a:srgbClr val="000000"/>
                </a:solidFill>
                <a:latin typeface="Noto Sans"/>
                <a:ea typeface="Noto Sans"/>
                <a:cs typeface="Noto Sans"/>
                <a:sym typeface="Noto Sans"/>
              </a:rPr>
              <a:t> Hỗ trợ kéo và thả file trực tiếp vào vùng Upload thay vì phải chọn file thủ công.</a:t>
            </a:r>
          </a:p>
          <a:p>
            <a:pPr algn="l" marL="682402" indent="-341201" lvl="1">
              <a:lnSpc>
                <a:spcPts val="4425"/>
              </a:lnSpc>
              <a:spcBef>
                <a:spcPct val="0"/>
              </a:spcBef>
              <a:buFont typeface="Arial"/>
              <a:buChar char="•"/>
            </a:pPr>
            <a:r>
              <a:rPr lang="en-US" b="true" sz="3160">
                <a:solidFill>
                  <a:srgbClr val="000000"/>
                </a:solidFill>
                <a:latin typeface="Noto Sans Bold"/>
                <a:ea typeface="Noto Sans Bold"/>
                <a:cs typeface="Noto Sans Bold"/>
                <a:sym typeface="Noto Sans Bold"/>
              </a:rPr>
              <a:t>Phản hồi tức thì: </a:t>
            </a:r>
            <a:r>
              <a:rPr lang="en-US" sz="3160">
                <a:solidFill>
                  <a:srgbClr val="000000"/>
                </a:solidFill>
                <a:latin typeface="Noto Sans"/>
                <a:ea typeface="Noto Sans"/>
                <a:cs typeface="Noto Sans"/>
                <a:sym typeface="Noto Sans"/>
              </a:rPr>
              <a:t>Xử lý các sự kiện DragEnter, DragLeave và Drop để thay đổi giao diện khi người dùng thao tác.</a:t>
            </a:r>
          </a:p>
          <a:p>
            <a:pPr algn="l" marL="682402" indent="-341201" lvl="1">
              <a:lnSpc>
                <a:spcPts val="4425"/>
              </a:lnSpc>
              <a:buFont typeface="Arial"/>
              <a:buChar char="•"/>
            </a:pPr>
            <a:r>
              <a:rPr lang="en-US" b="true" sz="3160">
                <a:solidFill>
                  <a:srgbClr val="000000"/>
                </a:solidFill>
                <a:latin typeface="Noto Sans Bold"/>
                <a:ea typeface="Noto Sans Bold"/>
                <a:cs typeface="Noto Sans Bold"/>
                <a:sym typeface="Noto Sans Bold"/>
              </a:rPr>
              <a:t>Tự động xử lý:</a:t>
            </a:r>
            <a:r>
              <a:rPr lang="en-US" sz="3160">
                <a:solidFill>
                  <a:srgbClr val="000000"/>
                </a:solidFill>
                <a:latin typeface="Noto Sans"/>
                <a:ea typeface="Noto Sans"/>
                <a:cs typeface="Noto Sans"/>
                <a:sym typeface="Noto Sans"/>
              </a:rPr>
              <a:t> Kiểm tra file hợp lệ, loại bỏ file trùng lặp và thêm file vào danh sách chờ upload.</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499053" y="2506278"/>
            <a:ext cx="7191427" cy="5599039"/>
          </a:xfrm>
          <a:custGeom>
            <a:avLst/>
            <a:gdLst/>
            <a:ahLst/>
            <a:cxnLst/>
            <a:rect r="r" b="b" t="t" l="l"/>
            <a:pathLst>
              <a:path h="5599039" w="7191427">
                <a:moveTo>
                  <a:pt x="0" y="0"/>
                </a:moveTo>
                <a:lnTo>
                  <a:pt x="7191427" y="0"/>
                </a:lnTo>
                <a:lnTo>
                  <a:pt x="7191427" y="5599039"/>
                </a:lnTo>
                <a:lnTo>
                  <a:pt x="0" y="5599039"/>
                </a:lnTo>
                <a:lnTo>
                  <a:pt x="0" y="0"/>
                </a:lnTo>
                <a:close/>
              </a:path>
            </a:pathLst>
          </a:custGeom>
          <a:blipFill>
            <a:blip r:embed="rId3"/>
            <a:stretch>
              <a:fillRect l="0" t="0" r="0" b="0"/>
            </a:stretch>
          </a:blipFill>
        </p:spPr>
      </p:sp>
      <p:sp>
        <p:nvSpPr>
          <p:cNvPr name="TextBox 4" id="4"/>
          <p:cNvSpPr txBox="true"/>
          <p:nvPr/>
        </p:nvSpPr>
        <p:spPr>
          <a:xfrm rot="0">
            <a:off x="8147936" y="2119061"/>
            <a:ext cx="8955630" cy="5887613"/>
          </a:xfrm>
          <a:prstGeom prst="rect">
            <a:avLst/>
          </a:prstGeom>
        </p:spPr>
        <p:txBody>
          <a:bodyPr anchor="t" rtlCol="false" tIns="0" lIns="0" bIns="0" rIns="0">
            <a:spAutoFit/>
          </a:bodyPr>
          <a:lstStyle/>
          <a:p>
            <a:pPr algn="ctr">
              <a:lnSpc>
                <a:spcPts val="4660"/>
              </a:lnSpc>
            </a:pPr>
            <a:r>
              <a:rPr lang="en-US" sz="3329" b="true">
                <a:solidFill>
                  <a:srgbClr val="000000"/>
                </a:solidFill>
                <a:latin typeface="Noto Sans Bold"/>
                <a:ea typeface="Noto Sans Bold"/>
                <a:cs typeface="Noto Sans Bold"/>
                <a:sym typeface="Noto Sans Bold"/>
              </a:rPr>
              <a:t>Theo dõi trạng thái Upload</a:t>
            </a:r>
          </a:p>
          <a:p>
            <a:pPr algn="l" marL="718777" indent="-359388" lvl="1">
              <a:lnSpc>
                <a:spcPts val="4660"/>
              </a:lnSpc>
              <a:buFont typeface="Arial"/>
              <a:buChar char="•"/>
            </a:pPr>
            <a:r>
              <a:rPr lang="en-US" sz="3329">
                <a:solidFill>
                  <a:srgbClr val="000000"/>
                </a:solidFill>
                <a:latin typeface="Noto Sans"/>
                <a:ea typeface="Noto Sans"/>
                <a:cs typeface="Noto Sans"/>
                <a:sym typeface="Noto Sans"/>
              </a:rPr>
              <a:t>Hiển thị trạng thái upload của từng file theo thời gian thực.</a:t>
            </a:r>
          </a:p>
          <a:p>
            <a:pPr algn="l" marL="718777" indent="-359388" lvl="1">
              <a:lnSpc>
                <a:spcPts val="4660"/>
              </a:lnSpc>
              <a:buFont typeface="Arial"/>
              <a:buChar char="•"/>
            </a:pPr>
            <a:r>
              <a:rPr lang="en-US" sz="3329">
                <a:solidFill>
                  <a:srgbClr val="000000"/>
                </a:solidFill>
                <a:latin typeface="Noto Sans"/>
                <a:ea typeface="Noto Sans"/>
                <a:cs typeface="Noto Sans"/>
                <a:sym typeface="Noto Sans"/>
              </a:rPr>
              <a:t>Cập nhật thanh tiến trình (ProgressBar), phần trăm hoàn thành và tốc độ upload.</a:t>
            </a:r>
          </a:p>
          <a:p>
            <a:pPr algn="l" marL="718777" indent="-359388" lvl="1">
              <a:lnSpc>
                <a:spcPts val="4660"/>
              </a:lnSpc>
              <a:buFont typeface="Arial"/>
              <a:buChar char="•"/>
            </a:pPr>
            <a:r>
              <a:rPr lang="en-US" sz="3329">
                <a:solidFill>
                  <a:srgbClr val="000000"/>
                </a:solidFill>
                <a:latin typeface="Noto Sans"/>
                <a:ea typeface="Noto Sans"/>
                <a:cs typeface="Noto Sans"/>
                <a:sym typeface="Noto Sans"/>
              </a:rPr>
              <a:t>Theo dõi trạng thái của từng file: Queued, Uploading, Paused, Done, Failed.</a:t>
            </a:r>
          </a:p>
          <a:p>
            <a:pPr algn="l" marL="718777" indent="-359388" lvl="1">
              <a:lnSpc>
                <a:spcPts val="4660"/>
              </a:lnSpc>
              <a:buFont typeface="Arial"/>
              <a:buChar char="•"/>
            </a:pPr>
            <a:r>
              <a:rPr lang="en-US" sz="3329">
                <a:solidFill>
                  <a:srgbClr val="000000"/>
                </a:solidFill>
                <a:latin typeface="Noto Sans"/>
                <a:ea typeface="Noto Sans"/>
                <a:cs typeface="Noto Sans"/>
                <a:sym typeface="Noto Sans"/>
              </a:rPr>
              <a:t>Giúp người dùng dễ dàng quan sát và quản lý quá trình upload nhiều file.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637322" y="2218661"/>
            <a:ext cx="15013356" cy="3305099"/>
          </a:xfrm>
          <a:custGeom>
            <a:avLst/>
            <a:gdLst/>
            <a:ahLst/>
            <a:cxnLst/>
            <a:rect r="r" b="b" t="t" l="l"/>
            <a:pathLst>
              <a:path h="3305099" w="15013356">
                <a:moveTo>
                  <a:pt x="0" y="0"/>
                </a:moveTo>
                <a:lnTo>
                  <a:pt x="15013356" y="0"/>
                </a:lnTo>
                <a:lnTo>
                  <a:pt x="15013356" y="3305099"/>
                </a:lnTo>
                <a:lnTo>
                  <a:pt x="0" y="3305099"/>
                </a:lnTo>
                <a:lnTo>
                  <a:pt x="0" y="0"/>
                </a:lnTo>
                <a:close/>
              </a:path>
            </a:pathLst>
          </a:custGeom>
          <a:blipFill>
            <a:blip r:embed="rId3"/>
            <a:stretch>
              <a:fillRect l="0" t="0" r="0" b="0"/>
            </a:stretch>
          </a:blipFill>
          <a:ln w="38100" cap="sq">
            <a:solidFill>
              <a:srgbClr val="FF3131"/>
            </a:solidFill>
            <a:prstDash val="solid"/>
            <a:miter/>
          </a:ln>
        </p:spPr>
      </p:sp>
      <p:sp>
        <p:nvSpPr>
          <p:cNvPr name="TextBox 4" id="4"/>
          <p:cNvSpPr txBox="true"/>
          <p:nvPr/>
        </p:nvSpPr>
        <p:spPr>
          <a:xfrm rot="0">
            <a:off x="1637322" y="1434335"/>
            <a:ext cx="15013356" cy="572663"/>
          </a:xfrm>
          <a:prstGeom prst="rect">
            <a:avLst/>
          </a:prstGeom>
        </p:spPr>
        <p:txBody>
          <a:bodyPr anchor="t" rtlCol="false" tIns="0" lIns="0" bIns="0" rIns="0">
            <a:spAutoFit/>
          </a:bodyPr>
          <a:lstStyle/>
          <a:p>
            <a:pPr algn="ctr">
              <a:lnSpc>
                <a:spcPts val="4660"/>
              </a:lnSpc>
              <a:spcBef>
                <a:spcPct val="0"/>
              </a:spcBef>
            </a:pPr>
            <a:r>
              <a:rPr lang="en-US" b="true" sz="3329">
                <a:solidFill>
                  <a:srgbClr val="000000"/>
                </a:solidFill>
                <a:latin typeface="Noto Sans Bold"/>
                <a:ea typeface="Noto Sans Bold"/>
                <a:cs typeface="Noto Sans Bold"/>
                <a:sym typeface="Noto Sans Bold"/>
              </a:rPr>
              <a:t>QUẢ</a:t>
            </a:r>
            <a:r>
              <a:rPr lang="en-US" b="true" sz="3329">
                <a:solidFill>
                  <a:srgbClr val="000000"/>
                </a:solidFill>
                <a:latin typeface="Noto Sans Bold"/>
                <a:ea typeface="Noto Sans Bold"/>
                <a:cs typeface="Noto Sans Bold"/>
                <a:sym typeface="Noto Sans Bold"/>
              </a:rPr>
              <a:t>N LÝ DANH SÁCH FILE VỚI DATAGRID</a:t>
            </a:r>
          </a:p>
        </p:txBody>
      </p:sp>
      <p:sp>
        <p:nvSpPr>
          <p:cNvPr name="TextBox 5" id="5"/>
          <p:cNvSpPr txBox="true"/>
          <p:nvPr/>
        </p:nvSpPr>
        <p:spPr>
          <a:xfrm rot="0">
            <a:off x="2430333" y="5685685"/>
            <a:ext cx="12747247" cy="3938227"/>
          </a:xfrm>
          <a:prstGeom prst="rect">
            <a:avLst/>
          </a:prstGeom>
        </p:spPr>
        <p:txBody>
          <a:bodyPr anchor="t" rtlCol="false" tIns="0" lIns="0" bIns="0" rIns="0">
            <a:spAutoFit/>
          </a:bodyPr>
          <a:lstStyle/>
          <a:p>
            <a:pPr algn="l" marL="610286" indent="-305143" lvl="1">
              <a:lnSpc>
                <a:spcPts val="3957"/>
              </a:lnSpc>
              <a:buFont typeface="Arial"/>
              <a:buChar char="•"/>
            </a:pPr>
            <a:r>
              <a:rPr lang="en-US" b="true" sz="2826">
                <a:solidFill>
                  <a:srgbClr val="000000"/>
                </a:solidFill>
                <a:latin typeface="Noto Sans Bold"/>
                <a:ea typeface="Noto Sans Bold"/>
                <a:cs typeface="Noto Sans Bold"/>
                <a:sym typeface="Noto Sans Bold"/>
              </a:rPr>
              <a:t>Hiển thị dữ liệu trực quan:</a:t>
            </a:r>
            <a:r>
              <a:rPr lang="en-US" sz="2826">
                <a:solidFill>
                  <a:srgbClr val="000000"/>
                </a:solidFill>
                <a:latin typeface="Noto Sans"/>
                <a:ea typeface="Noto Sans"/>
                <a:cs typeface="Noto Sans"/>
                <a:sym typeface="Noto Sans"/>
              </a:rPr>
              <a:t> Sử dụng DataGrid để hiển thị danh sách file theo dạng bảng với các thông tin như STT, loại file, tên file, dung lượng, trạng thái và tiến độ.</a:t>
            </a:r>
          </a:p>
          <a:p>
            <a:pPr algn="l" marL="610286" indent="-305143" lvl="1">
              <a:lnSpc>
                <a:spcPts val="3957"/>
              </a:lnSpc>
              <a:buFont typeface="Arial"/>
              <a:buChar char="•"/>
            </a:pPr>
            <a:r>
              <a:rPr lang="en-US" b="true" sz="2826">
                <a:solidFill>
                  <a:srgbClr val="000000"/>
                </a:solidFill>
                <a:latin typeface="Noto Sans Bold"/>
                <a:ea typeface="Noto Sans Bold"/>
                <a:cs typeface="Noto Sans Bold"/>
                <a:sym typeface="Noto Sans Bold"/>
              </a:rPr>
              <a:t>Cơ chế Data Binding: </a:t>
            </a:r>
            <a:r>
              <a:rPr lang="en-US" sz="2826">
                <a:solidFill>
                  <a:srgbClr val="000000"/>
                </a:solidFill>
                <a:latin typeface="Noto Sans"/>
                <a:ea typeface="Noto Sans"/>
                <a:cs typeface="Noto Sans"/>
                <a:sym typeface="Noto Sans"/>
              </a:rPr>
              <a:t>Liên kết dữ liệu với ObservableCollection&lt;FileItem&gt; giúp giao diện tự động đồng bộ khi danh sách thay đổi.</a:t>
            </a:r>
          </a:p>
          <a:p>
            <a:pPr algn="l" marL="610286" indent="-305143" lvl="1">
              <a:lnSpc>
                <a:spcPts val="3957"/>
              </a:lnSpc>
              <a:buFont typeface="Arial"/>
              <a:buChar char="•"/>
            </a:pPr>
            <a:r>
              <a:rPr lang="en-US" b="true" sz="2826">
                <a:solidFill>
                  <a:srgbClr val="000000"/>
                </a:solidFill>
                <a:latin typeface="Noto Sans Bold"/>
                <a:ea typeface="Noto Sans Bold"/>
                <a:cs typeface="Noto Sans Bold"/>
                <a:sym typeface="Noto Sans Bold"/>
              </a:rPr>
              <a:t>Tự động cập nhật: </a:t>
            </a:r>
            <a:r>
              <a:rPr lang="en-US" sz="2826">
                <a:solidFill>
                  <a:srgbClr val="000000"/>
                </a:solidFill>
                <a:latin typeface="Noto Sans"/>
                <a:ea typeface="Noto Sans"/>
                <a:cs typeface="Noto Sans"/>
                <a:sym typeface="Noto Sans"/>
              </a:rPr>
              <a:t>Khi thêm, xóa hoặc thay đổi trạng thái file, DataGrid sẽ tự động cập nhật mà không cần can thiệp trực tiếp vào giao diện.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539045" y="2612441"/>
            <a:ext cx="10369934" cy="6645859"/>
          </a:xfrm>
          <a:custGeom>
            <a:avLst/>
            <a:gdLst/>
            <a:ahLst/>
            <a:cxnLst/>
            <a:rect r="r" b="b" t="t" l="l"/>
            <a:pathLst>
              <a:path h="6645859" w="10369934">
                <a:moveTo>
                  <a:pt x="0" y="0"/>
                </a:moveTo>
                <a:lnTo>
                  <a:pt x="10369934" y="0"/>
                </a:lnTo>
                <a:lnTo>
                  <a:pt x="10369934" y="6645859"/>
                </a:lnTo>
                <a:lnTo>
                  <a:pt x="0" y="6645859"/>
                </a:lnTo>
                <a:lnTo>
                  <a:pt x="0" y="0"/>
                </a:lnTo>
                <a:close/>
              </a:path>
            </a:pathLst>
          </a:custGeom>
          <a:blipFill>
            <a:blip r:embed="rId3"/>
            <a:stretch>
              <a:fillRect l="0" t="0" r="0" b="0"/>
            </a:stretch>
          </a:blipFill>
        </p:spPr>
      </p:sp>
      <p:sp>
        <p:nvSpPr>
          <p:cNvPr name="TextBox 4" id="4"/>
          <p:cNvSpPr txBox="true"/>
          <p:nvPr/>
        </p:nvSpPr>
        <p:spPr>
          <a:xfrm rot="0">
            <a:off x="7685644" y="554037"/>
            <a:ext cx="4325838" cy="854075"/>
          </a:xfrm>
          <a:prstGeom prst="rect">
            <a:avLst/>
          </a:prstGeom>
        </p:spPr>
        <p:txBody>
          <a:bodyPr anchor="t" rtlCol="false" tIns="0" lIns="0" bIns="0" rIns="0">
            <a:spAutoFit/>
          </a:bodyPr>
          <a:lstStyle/>
          <a:p>
            <a:pPr algn="ctr">
              <a:lnSpc>
                <a:spcPts val="6999"/>
              </a:lnSpc>
              <a:spcBef>
                <a:spcPct val="0"/>
              </a:spcBef>
            </a:pPr>
            <a:r>
              <a:rPr lang="en-US" b="true" sz="4999" u="sng">
                <a:solidFill>
                  <a:srgbClr val="000000"/>
                </a:solidFill>
                <a:latin typeface="Noto Sans Bold"/>
                <a:ea typeface="Noto Sans Bold"/>
                <a:cs typeface="Noto Sans Bold"/>
                <a:sym typeface="Noto Sans Bold"/>
              </a:rPr>
              <a:t>Client System</a:t>
            </a:r>
          </a:p>
        </p:txBody>
      </p:sp>
      <p:sp>
        <p:nvSpPr>
          <p:cNvPr name="TextBox 5" id="5"/>
          <p:cNvSpPr txBox="true"/>
          <p:nvPr/>
        </p:nvSpPr>
        <p:spPr>
          <a:xfrm rot="0">
            <a:off x="11020330" y="2409191"/>
            <a:ext cx="6775726" cy="6849109"/>
          </a:xfrm>
          <a:prstGeom prst="rect">
            <a:avLst/>
          </a:prstGeom>
        </p:spPr>
        <p:txBody>
          <a:bodyPr anchor="t" rtlCol="false" tIns="0" lIns="0" bIns="0" rIns="0">
            <a:spAutoFit/>
          </a:bodyPr>
          <a:lstStyle/>
          <a:p>
            <a:pPr algn="l" marL="561345" indent="-280673" lvl="1">
              <a:lnSpc>
                <a:spcPts val="3640"/>
              </a:lnSpc>
              <a:buFont typeface="Arial"/>
              <a:buChar char="•"/>
            </a:pPr>
            <a:r>
              <a:rPr lang="en-US" sz="2600">
                <a:solidFill>
                  <a:srgbClr val="000000"/>
                </a:solidFill>
                <a:latin typeface="Noto Sans"/>
                <a:ea typeface="Noto Sans"/>
                <a:cs typeface="Noto Sans"/>
                <a:sym typeface="Noto Sans"/>
              </a:rPr>
              <a:t>Đây là chức năng kết nối tới Server khi người dùng nhấn nút Connect.</a:t>
            </a:r>
          </a:p>
          <a:p>
            <a:pPr algn="l" marL="561345" indent="-280673" lvl="1">
              <a:lnSpc>
                <a:spcPts val="3640"/>
              </a:lnSpc>
              <a:buFont typeface="Arial"/>
              <a:buChar char="•"/>
            </a:pPr>
            <a:r>
              <a:rPr lang="en-US" sz="2600">
                <a:solidFill>
                  <a:srgbClr val="000000"/>
                </a:solidFill>
                <a:latin typeface="Noto Sans"/>
                <a:ea typeface="Noto Sans"/>
                <a:cs typeface="Noto Sans"/>
                <a:sym typeface="Noto Sans"/>
              </a:rPr>
              <a:t>Đầu tiên chương trình lấy địa chỉ IP và Port từ giao diện bằng TryGetServerInfo().</a:t>
            </a:r>
          </a:p>
          <a:p>
            <a:pPr algn="l" marL="561345" indent="-280673" lvl="1">
              <a:lnSpc>
                <a:spcPts val="3640"/>
              </a:lnSpc>
              <a:buFont typeface="Arial"/>
              <a:buChar char="•"/>
            </a:pPr>
            <a:r>
              <a:rPr lang="en-US" sz="2600">
                <a:solidFill>
                  <a:srgbClr val="000000"/>
                </a:solidFill>
                <a:latin typeface="Noto Sans"/>
                <a:ea typeface="Noto Sans"/>
                <a:cs typeface="Noto Sans"/>
                <a:sym typeface="Noto Sans"/>
              </a:rPr>
              <a:t>Sau đó Client gọi PingServerAsync() để kiểm tra Server có đang hoạt động hay không.</a:t>
            </a:r>
          </a:p>
          <a:p>
            <a:pPr algn="l" marL="561345" indent="-280673" lvl="1">
              <a:lnSpc>
                <a:spcPts val="3640"/>
              </a:lnSpc>
              <a:buFont typeface="Arial"/>
              <a:buChar char="•"/>
            </a:pPr>
            <a:r>
              <a:rPr lang="en-US" sz="2600">
                <a:solidFill>
                  <a:srgbClr val="000000"/>
                </a:solidFill>
                <a:latin typeface="Noto Sans"/>
                <a:ea typeface="Noto Sans"/>
                <a:cs typeface="Noto Sans"/>
                <a:sym typeface="Noto Sans"/>
              </a:rPr>
              <a:t>Nếu Server không phản hồi trong vòng 3000 ms, chương trình sẽ thông báo lỗi và hủy kết nối.</a:t>
            </a:r>
          </a:p>
          <a:p>
            <a:pPr algn="l" marL="561345" indent="-280673" lvl="1">
              <a:lnSpc>
                <a:spcPts val="3640"/>
              </a:lnSpc>
              <a:buFont typeface="Arial"/>
              <a:buChar char="•"/>
            </a:pPr>
            <a:r>
              <a:rPr lang="en-US" sz="2600">
                <a:solidFill>
                  <a:srgbClr val="000000"/>
                </a:solidFill>
                <a:latin typeface="Noto Sans"/>
                <a:ea typeface="Noto Sans"/>
                <a:cs typeface="Noto Sans"/>
                <a:sym typeface="Noto Sans"/>
              </a:rPr>
              <a:t>Nếu kết nối thành công, giao diện sẽ chuyển sang trạng thái Connected.</a:t>
            </a:r>
          </a:p>
          <a:p>
            <a:pPr algn="l" marL="561345" indent="-280673" lvl="1">
              <a:lnSpc>
                <a:spcPts val="3640"/>
              </a:lnSpc>
              <a:buFont typeface="Arial"/>
              <a:buChar char="•"/>
            </a:pPr>
            <a:r>
              <a:rPr lang="en-US" sz="2600">
                <a:solidFill>
                  <a:srgbClr val="000000"/>
                </a:solidFill>
                <a:latin typeface="Noto Sans"/>
                <a:ea typeface="Noto Sans"/>
                <a:cs typeface="Noto Sans"/>
                <a:sym typeface="Noto Sans"/>
              </a:rPr>
              <a:t>Cuối cùng khởi động tiến trình giám sát Server bằng StartServerMonitor().</a:t>
            </a:r>
          </a:p>
        </p:txBody>
      </p:sp>
      <p:sp>
        <p:nvSpPr>
          <p:cNvPr name="TextBox 6" id="6"/>
          <p:cNvSpPr txBox="true"/>
          <p:nvPr/>
        </p:nvSpPr>
        <p:spPr>
          <a:xfrm rot="0">
            <a:off x="688330" y="1468264"/>
            <a:ext cx="5127724" cy="811530"/>
          </a:xfrm>
          <a:prstGeom prst="rect">
            <a:avLst/>
          </a:prstGeom>
        </p:spPr>
        <p:txBody>
          <a:bodyPr anchor="t" rtlCol="false" tIns="0" lIns="0" bIns="0" rIns="0">
            <a:spAutoFit/>
          </a:bodyPr>
          <a:lstStyle/>
          <a:p>
            <a:pPr algn="l">
              <a:lnSpc>
                <a:spcPts val="6719"/>
              </a:lnSpc>
            </a:pPr>
            <a:r>
              <a:rPr lang="en-US" b="true" sz="4800">
                <a:solidFill>
                  <a:srgbClr val="000000"/>
                </a:solidFill>
                <a:latin typeface="Noto Sans Bold"/>
                <a:ea typeface="Noto Sans Bold"/>
                <a:cs typeface="Noto Sans Bold"/>
                <a:sym typeface="Noto Sans Bold"/>
              </a:rPr>
              <a:t>1.</a:t>
            </a:r>
            <a:r>
              <a:rPr lang="en-US" b="true" sz="4800">
                <a:solidFill>
                  <a:srgbClr val="000000"/>
                </a:solidFill>
                <a:latin typeface="Noto Sans Bold"/>
                <a:ea typeface="Noto Sans Bold"/>
                <a:cs typeface="Noto Sans Bold"/>
                <a:sym typeface="Noto Sans Bold"/>
              </a:rPr>
              <a:t>Connect Server</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630478" y="2354766"/>
            <a:ext cx="12967867" cy="2539016"/>
          </a:xfrm>
          <a:custGeom>
            <a:avLst/>
            <a:gdLst/>
            <a:ahLst/>
            <a:cxnLst/>
            <a:rect r="r" b="b" t="t" l="l"/>
            <a:pathLst>
              <a:path h="2539016" w="12967867">
                <a:moveTo>
                  <a:pt x="0" y="0"/>
                </a:moveTo>
                <a:lnTo>
                  <a:pt x="12967867" y="0"/>
                </a:lnTo>
                <a:lnTo>
                  <a:pt x="12967867" y="2539016"/>
                </a:lnTo>
                <a:lnTo>
                  <a:pt x="0" y="2539016"/>
                </a:lnTo>
                <a:lnTo>
                  <a:pt x="0" y="0"/>
                </a:lnTo>
                <a:close/>
              </a:path>
            </a:pathLst>
          </a:custGeom>
          <a:blipFill>
            <a:blip r:embed="rId3"/>
            <a:stretch>
              <a:fillRect l="0" t="0" r="0" b="0"/>
            </a:stretch>
          </a:blipFill>
        </p:spPr>
      </p:sp>
      <p:sp>
        <p:nvSpPr>
          <p:cNvPr name="TextBox 4" id="4"/>
          <p:cNvSpPr txBox="true"/>
          <p:nvPr/>
        </p:nvSpPr>
        <p:spPr>
          <a:xfrm rot="0">
            <a:off x="636236" y="1293519"/>
            <a:ext cx="600789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2.</a:t>
            </a:r>
            <a:r>
              <a:rPr lang="en-US" b="true" sz="4800">
                <a:solidFill>
                  <a:srgbClr val="000000"/>
                </a:solidFill>
                <a:latin typeface="Noto Sans Bold"/>
                <a:ea typeface="Noto Sans Bold"/>
                <a:cs typeface="Noto Sans Bold"/>
                <a:sym typeface="Noto Sans Bold"/>
              </a:rPr>
              <a:t>Disconnect Server</a:t>
            </a:r>
          </a:p>
        </p:txBody>
      </p:sp>
      <p:sp>
        <p:nvSpPr>
          <p:cNvPr name="TextBox 5" id="5"/>
          <p:cNvSpPr txBox="true"/>
          <p:nvPr/>
        </p:nvSpPr>
        <p:spPr>
          <a:xfrm rot="0">
            <a:off x="2960013" y="5076825"/>
            <a:ext cx="14299287" cy="4455884"/>
          </a:xfrm>
          <a:prstGeom prst="rect">
            <a:avLst/>
          </a:prstGeom>
        </p:spPr>
        <p:txBody>
          <a:bodyPr anchor="t" rtlCol="false" tIns="0" lIns="0" bIns="0" rIns="0">
            <a:spAutoFit/>
          </a:bodyPr>
          <a:lstStyle/>
          <a:p>
            <a:pPr algn="l" marL="680400" indent="-340200" lvl="1">
              <a:lnSpc>
                <a:spcPts val="4412"/>
              </a:lnSpc>
              <a:buFont typeface="Arial"/>
              <a:buChar char="•"/>
            </a:pPr>
            <a:r>
              <a:rPr lang="en-US" sz="3151">
                <a:solidFill>
                  <a:srgbClr val="000000"/>
                </a:solidFill>
                <a:latin typeface="Noto Sans"/>
                <a:ea typeface="Noto Sans"/>
                <a:cs typeface="Noto Sans"/>
                <a:sym typeface="Noto Sans"/>
              </a:rPr>
              <a:t>Đây là chức năng ngắt kết nối Server.</a:t>
            </a:r>
          </a:p>
          <a:p>
            <a:pPr algn="l" marL="680400" indent="-340200" lvl="1">
              <a:lnSpc>
                <a:spcPts val="4412"/>
              </a:lnSpc>
              <a:buFont typeface="Arial"/>
              <a:buChar char="•"/>
            </a:pPr>
            <a:r>
              <a:rPr lang="en-US" sz="3151">
                <a:solidFill>
                  <a:srgbClr val="000000"/>
                </a:solidFill>
                <a:latin typeface="Noto Sans"/>
                <a:ea typeface="Noto Sans"/>
                <a:cs typeface="Noto Sans"/>
                <a:sym typeface="Noto Sans"/>
              </a:rPr>
              <a:t>Khi người dùng nhấn nút Disconnect, chương trình gọi DisconnectClient().</a:t>
            </a:r>
          </a:p>
          <a:p>
            <a:pPr algn="l" marL="680400" indent="-340200" lvl="1">
              <a:lnSpc>
                <a:spcPts val="4412"/>
              </a:lnSpc>
              <a:buFont typeface="Arial"/>
              <a:buChar char="•"/>
            </a:pPr>
            <a:r>
              <a:rPr lang="en-US" sz="3151">
                <a:solidFill>
                  <a:srgbClr val="000000"/>
                </a:solidFill>
                <a:latin typeface="Noto Sans"/>
                <a:ea typeface="Noto Sans"/>
                <a:cs typeface="Noto Sans"/>
                <a:sym typeface="Noto Sans"/>
              </a:rPr>
              <a:t>Hàm này sẽ:</a:t>
            </a:r>
          </a:p>
          <a:p>
            <a:pPr algn="l">
              <a:lnSpc>
                <a:spcPts val="4412"/>
              </a:lnSpc>
            </a:pPr>
            <a:r>
              <a:rPr lang="en-US" sz="3151">
                <a:solidFill>
                  <a:srgbClr val="000000"/>
                </a:solidFill>
                <a:latin typeface="Noto Sans"/>
                <a:ea typeface="Noto Sans"/>
                <a:cs typeface="Noto Sans"/>
                <a:sym typeface="Noto Sans"/>
              </a:rPr>
              <a:t>              Dừng tiến trình giám sát Server.</a:t>
            </a:r>
          </a:p>
          <a:p>
            <a:pPr algn="l">
              <a:lnSpc>
                <a:spcPts val="4412"/>
              </a:lnSpc>
            </a:pPr>
            <a:r>
              <a:rPr lang="en-US" sz="3151">
                <a:solidFill>
                  <a:srgbClr val="000000"/>
                </a:solidFill>
                <a:latin typeface="Noto Sans"/>
                <a:ea typeface="Noto Sans"/>
                <a:cs typeface="Noto Sans"/>
                <a:sym typeface="Noto Sans"/>
              </a:rPr>
              <a:t>              Hủy các tiến trình upload đang chạy.</a:t>
            </a:r>
          </a:p>
          <a:p>
            <a:pPr algn="l">
              <a:lnSpc>
                <a:spcPts val="4412"/>
              </a:lnSpc>
            </a:pPr>
            <a:r>
              <a:rPr lang="en-US" sz="3151">
                <a:solidFill>
                  <a:srgbClr val="000000"/>
                </a:solidFill>
                <a:latin typeface="Noto Sans"/>
                <a:ea typeface="Noto Sans"/>
                <a:cs typeface="Noto Sans"/>
                <a:sym typeface="Noto Sans"/>
              </a:rPr>
              <a:t>              Đóng toàn bộ kết nối TCP còn mở.</a:t>
            </a:r>
          </a:p>
          <a:p>
            <a:pPr algn="l">
              <a:lnSpc>
                <a:spcPts val="4412"/>
              </a:lnSpc>
            </a:pPr>
            <a:r>
              <a:rPr lang="en-US" sz="3151">
                <a:solidFill>
                  <a:srgbClr val="000000"/>
                </a:solidFill>
                <a:latin typeface="Noto Sans"/>
                <a:ea typeface="Noto Sans"/>
                <a:cs typeface="Noto Sans"/>
                <a:sym typeface="Noto Sans"/>
              </a:rPr>
              <a:t>              Chuyển trạng thái giao diện về Disconnected.</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2317771" y="2347763"/>
            <a:ext cx="9907347" cy="4398918"/>
          </a:xfrm>
          <a:custGeom>
            <a:avLst/>
            <a:gdLst/>
            <a:ahLst/>
            <a:cxnLst/>
            <a:rect r="r" b="b" t="t" l="l"/>
            <a:pathLst>
              <a:path h="4398918" w="9907347">
                <a:moveTo>
                  <a:pt x="0" y="0"/>
                </a:moveTo>
                <a:lnTo>
                  <a:pt x="9907347" y="0"/>
                </a:lnTo>
                <a:lnTo>
                  <a:pt x="9907347" y="4398918"/>
                </a:lnTo>
                <a:lnTo>
                  <a:pt x="0" y="4398918"/>
                </a:lnTo>
                <a:lnTo>
                  <a:pt x="0" y="0"/>
                </a:lnTo>
                <a:close/>
              </a:path>
            </a:pathLst>
          </a:custGeom>
          <a:blipFill>
            <a:blip r:embed="rId3"/>
            <a:stretch>
              <a:fillRect l="0" t="0" r="-2157" b="-485"/>
            </a:stretch>
          </a:blipFill>
        </p:spPr>
      </p:sp>
      <p:sp>
        <p:nvSpPr>
          <p:cNvPr name="TextBox 4" id="4"/>
          <p:cNvSpPr txBox="true"/>
          <p:nvPr/>
        </p:nvSpPr>
        <p:spPr>
          <a:xfrm rot="0">
            <a:off x="2055336" y="6804026"/>
            <a:ext cx="15108287" cy="2454274"/>
          </a:xfrm>
          <a:prstGeom prst="rect">
            <a:avLst/>
          </a:prstGeom>
        </p:spPr>
        <p:txBody>
          <a:bodyPr anchor="t" rtlCol="false" tIns="0" lIns="0" bIns="0" rIns="0">
            <a:spAutoFit/>
          </a:bodyPr>
          <a:lstStyle/>
          <a:p>
            <a:pPr algn="l" marL="755657" indent="-377829" lvl="1">
              <a:lnSpc>
                <a:spcPts val="4900"/>
              </a:lnSpc>
              <a:buFont typeface="Arial"/>
              <a:buChar char="•"/>
            </a:pPr>
            <a:r>
              <a:rPr lang="en-US" sz="3500">
                <a:solidFill>
                  <a:srgbClr val="000000"/>
                </a:solidFill>
                <a:latin typeface="Noto Sans"/>
                <a:ea typeface="Noto Sans"/>
                <a:cs typeface="Noto Sans"/>
                <a:sym typeface="Noto Sans"/>
              </a:rPr>
              <a:t>Đây là chức năng chọn file để upload.</a:t>
            </a:r>
          </a:p>
          <a:p>
            <a:pPr algn="l" marL="755657" indent="-377829" lvl="1">
              <a:lnSpc>
                <a:spcPts val="4900"/>
              </a:lnSpc>
              <a:buFont typeface="Arial"/>
              <a:buChar char="•"/>
            </a:pPr>
            <a:r>
              <a:rPr lang="en-US" sz="3500">
                <a:solidFill>
                  <a:srgbClr val="000000"/>
                </a:solidFill>
                <a:latin typeface="Noto Sans"/>
                <a:ea typeface="Noto Sans"/>
                <a:cs typeface="Noto Sans"/>
                <a:sym typeface="Noto Sans"/>
              </a:rPr>
              <a:t>Người dùng có thể chọn nhiều file cùng lúc.</a:t>
            </a:r>
          </a:p>
          <a:p>
            <a:pPr algn="l" marL="755657" indent="-377829" lvl="1">
              <a:lnSpc>
                <a:spcPts val="4900"/>
              </a:lnSpc>
              <a:buFont typeface="Arial"/>
              <a:buChar char="•"/>
            </a:pPr>
            <a:r>
              <a:rPr lang="en-US" sz="3500">
                <a:solidFill>
                  <a:srgbClr val="000000"/>
                </a:solidFill>
                <a:latin typeface="Noto Sans"/>
                <a:ea typeface="Noto Sans"/>
                <a:cs typeface="Noto Sans"/>
                <a:sym typeface="Noto Sans"/>
              </a:rPr>
              <a:t>Sau khi chọn xong, danh sách file sẽ được truyền vào hàm AddFiles().</a:t>
            </a:r>
          </a:p>
          <a:p>
            <a:pPr algn="l" marL="755657" indent="-377829" lvl="1">
              <a:lnSpc>
                <a:spcPts val="4900"/>
              </a:lnSpc>
              <a:buFont typeface="Arial"/>
              <a:buChar char="•"/>
            </a:pPr>
            <a:r>
              <a:rPr lang="en-US" sz="3500">
                <a:solidFill>
                  <a:srgbClr val="000000"/>
                </a:solidFill>
                <a:latin typeface="Noto Sans"/>
                <a:ea typeface="Noto Sans"/>
                <a:cs typeface="Noto Sans"/>
                <a:sym typeface="Noto Sans"/>
              </a:rPr>
              <a:t>Các file hợp lệ sẽ được thêm vào danh sách chờ upload.</a:t>
            </a:r>
          </a:p>
        </p:txBody>
      </p:sp>
      <p:sp>
        <p:nvSpPr>
          <p:cNvPr name="TextBox 5" id="5"/>
          <p:cNvSpPr txBox="true"/>
          <p:nvPr/>
        </p:nvSpPr>
        <p:spPr>
          <a:xfrm rot="0">
            <a:off x="477131" y="1412408"/>
            <a:ext cx="5976045"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3 - Chọn File Upload</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684709" y="2842690"/>
            <a:ext cx="6864231" cy="5687738"/>
          </a:xfrm>
          <a:custGeom>
            <a:avLst/>
            <a:gdLst/>
            <a:ahLst/>
            <a:cxnLst/>
            <a:rect r="r" b="b" t="t" l="l"/>
            <a:pathLst>
              <a:path h="5687738" w="6864231">
                <a:moveTo>
                  <a:pt x="0" y="0"/>
                </a:moveTo>
                <a:lnTo>
                  <a:pt x="6864231" y="0"/>
                </a:lnTo>
                <a:lnTo>
                  <a:pt x="6864231" y="5687738"/>
                </a:lnTo>
                <a:lnTo>
                  <a:pt x="0" y="5687738"/>
                </a:lnTo>
                <a:lnTo>
                  <a:pt x="0" y="0"/>
                </a:lnTo>
                <a:close/>
              </a:path>
            </a:pathLst>
          </a:custGeom>
          <a:blipFill>
            <a:blip r:embed="rId3"/>
            <a:stretch>
              <a:fillRect l="-904" t="0" r="0" b="0"/>
            </a:stretch>
          </a:blipFill>
        </p:spPr>
      </p:sp>
      <p:sp>
        <p:nvSpPr>
          <p:cNvPr name="TextBox 4" id="4"/>
          <p:cNvSpPr txBox="true"/>
          <p:nvPr/>
        </p:nvSpPr>
        <p:spPr>
          <a:xfrm rot="0">
            <a:off x="684709" y="1777869"/>
            <a:ext cx="4250531"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4 - Upload File</a:t>
            </a:r>
          </a:p>
        </p:txBody>
      </p:sp>
      <p:sp>
        <p:nvSpPr>
          <p:cNvPr name="TextBox 5" id="5"/>
          <p:cNvSpPr txBox="true"/>
          <p:nvPr/>
        </p:nvSpPr>
        <p:spPr>
          <a:xfrm rot="0">
            <a:off x="7642975" y="3763065"/>
            <a:ext cx="10350222" cy="3378029"/>
          </a:xfrm>
          <a:prstGeom prst="rect">
            <a:avLst/>
          </a:prstGeom>
        </p:spPr>
        <p:txBody>
          <a:bodyPr anchor="t" rtlCol="false" tIns="0" lIns="0" bIns="0" rIns="0">
            <a:spAutoFit/>
          </a:bodyPr>
          <a:lstStyle/>
          <a:p>
            <a:pPr algn="l" marL="595176" indent="-297588" lvl="1">
              <a:lnSpc>
                <a:spcPts val="3859"/>
              </a:lnSpc>
              <a:buFont typeface="Arial"/>
              <a:buChar char="•"/>
            </a:pPr>
            <a:r>
              <a:rPr lang="en-US" sz="2756">
                <a:solidFill>
                  <a:srgbClr val="000000"/>
                </a:solidFill>
                <a:latin typeface="Noto Sans"/>
                <a:ea typeface="Noto Sans"/>
                <a:cs typeface="Noto Sans"/>
                <a:sym typeface="Noto Sans"/>
              </a:rPr>
              <a:t>Chương trình lấy tất cả file đang ở trạng thái Waiting.</a:t>
            </a:r>
          </a:p>
          <a:p>
            <a:pPr algn="l" marL="595176" indent="-297588" lvl="1">
              <a:lnSpc>
                <a:spcPts val="3859"/>
              </a:lnSpc>
              <a:buFont typeface="Arial"/>
              <a:buChar char="•"/>
            </a:pPr>
            <a:r>
              <a:rPr lang="en-US" sz="2756">
                <a:solidFill>
                  <a:srgbClr val="000000"/>
                </a:solidFill>
                <a:latin typeface="Noto Sans"/>
                <a:ea typeface="Noto Sans"/>
                <a:cs typeface="Noto Sans"/>
                <a:sym typeface="Noto Sans"/>
              </a:rPr>
              <a:t>Các file sẽ được chuyển sang danh sách upload.</a:t>
            </a:r>
          </a:p>
          <a:p>
            <a:pPr algn="l" marL="595176" indent="-297588" lvl="1">
              <a:lnSpc>
                <a:spcPts val="3859"/>
              </a:lnSpc>
              <a:buFont typeface="Arial"/>
              <a:buChar char="•"/>
            </a:pPr>
            <a:r>
              <a:rPr lang="en-US" sz="2756">
                <a:solidFill>
                  <a:srgbClr val="000000"/>
                </a:solidFill>
                <a:latin typeface="Noto Sans"/>
                <a:ea typeface="Noto Sans"/>
                <a:cs typeface="Noto Sans"/>
                <a:sym typeface="Noto Sans"/>
              </a:rPr>
              <a:t>SemaphoreSlim được sử dụng để giới hạn số lượng upload đồng thời.</a:t>
            </a:r>
          </a:p>
          <a:p>
            <a:pPr algn="l" marL="595176" indent="-297588" lvl="1">
              <a:lnSpc>
                <a:spcPts val="3859"/>
              </a:lnSpc>
              <a:buFont typeface="Arial"/>
              <a:buChar char="•"/>
            </a:pPr>
            <a:r>
              <a:rPr lang="en-US" sz="2756">
                <a:solidFill>
                  <a:srgbClr val="000000"/>
                </a:solidFill>
                <a:latin typeface="Noto Sans"/>
                <a:ea typeface="Noto Sans"/>
                <a:cs typeface="Noto Sans"/>
                <a:sym typeface="Noto Sans"/>
              </a:rPr>
              <a:t>Giá trị MaxParallelUploads = 3 nghĩa là chỉ có tối đa 3 file được upload cùng lúc.</a:t>
            </a:r>
          </a:p>
          <a:p>
            <a:pPr algn="l" marL="595176" indent="-297588" lvl="1">
              <a:lnSpc>
                <a:spcPts val="3859"/>
              </a:lnSpc>
              <a:buFont typeface="Arial"/>
              <a:buChar char="•"/>
            </a:pPr>
            <a:r>
              <a:rPr lang="en-US" sz="2756">
                <a:solidFill>
                  <a:srgbClr val="000000"/>
                </a:solidFill>
                <a:latin typeface="Noto Sans"/>
                <a:ea typeface="Noto Sans"/>
                <a:cs typeface="Noto Sans"/>
                <a:sym typeface="Noto Sans"/>
              </a:rPr>
              <a:t>Các file còn lại sẽ chờ tới lượt.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2006603" y="2085007"/>
            <a:ext cx="6423711" cy="5527379"/>
          </a:xfrm>
          <a:custGeom>
            <a:avLst/>
            <a:gdLst/>
            <a:ahLst/>
            <a:cxnLst/>
            <a:rect r="r" b="b" t="t" l="l"/>
            <a:pathLst>
              <a:path h="5527379" w="6423711">
                <a:moveTo>
                  <a:pt x="0" y="0"/>
                </a:moveTo>
                <a:lnTo>
                  <a:pt x="6423711" y="0"/>
                </a:lnTo>
                <a:lnTo>
                  <a:pt x="6423711" y="5527379"/>
                </a:lnTo>
                <a:lnTo>
                  <a:pt x="0" y="5527379"/>
                </a:lnTo>
                <a:lnTo>
                  <a:pt x="0" y="0"/>
                </a:lnTo>
                <a:close/>
              </a:path>
            </a:pathLst>
          </a:custGeom>
          <a:blipFill>
            <a:blip r:embed="rId3"/>
            <a:stretch>
              <a:fillRect l="0" t="0" r="0" b="0"/>
            </a:stretch>
          </a:blipFill>
        </p:spPr>
      </p:sp>
      <p:sp>
        <p:nvSpPr>
          <p:cNvPr name="Freeform 4" id="4"/>
          <p:cNvSpPr/>
          <p:nvPr/>
        </p:nvSpPr>
        <p:spPr>
          <a:xfrm flipH="false" flipV="false" rot="0">
            <a:off x="9506272" y="2060194"/>
            <a:ext cx="6661060" cy="5577005"/>
          </a:xfrm>
          <a:custGeom>
            <a:avLst/>
            <a:gdLst/>
            <a:ahLst/>
            <a:cxnLst/>
            <a:rect r="r" b="b" t="t" l="l"/>
            <a:pathLst>
              <a:path h="5577005" w="6661060">
                <a:moveTo>
                  <a:pt x="0" y="0"/>
                </a:moveTo>
                <a:lnTo>
                  <a:pt x="6661060" y="0"/>
                </a:lnTo>
                <a:lnTo>
                  <a:pt x="6661060" y="5577005"/>
                </a:lnTo>
                <a:lnTo>
                  <a:pt x="0" y="5577005"/>
                </a:lnTo>
                <a:lnTo>
                  <a:pt x="0" y="0"/>
                </a:lnTo>
                <a:close/>
              </a:path>
            </a:pathLst>
          </a:custGeom>
          <a:blipFill>
            <a:blip r:embed="rId4"/>
            <a:stretch>
              <a:fillRect l="0" t="0" r="0" b="0"/>
            </a:stretch>
          </a:blipFill>
        </p:spPr>
      </p:sp>
      <p:sp>
        <p:nvSpPr>
          <p:cNvPr name="TextBox 5" id="5"/>
          <p:cNvSpPr txBox="true"/>
          <p:nvPr/>
        </p:nvSpPr>
        <p:spPr>
          <a:xfrm rot="0">
            <a:off x="3070720" y="1248664"/>
            <a:ext cx="4295477"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 Pause Upload</a:t>
            </a:r>
          </a:p>
        </p:txBody>
      </p:sp>
      <p:sp>
        <p:nvSpPr>
          <p:cNvPr name="TextBox 6" id="6"/>
          <p:cNvSpPr txBox="true"/>
          <p:nvPr/>
        </p:nvSpPr>
        <p:spPr>
          <a:xfrm rot="0">
            <a:off x="10323498" y="1095166"/>
            <a:ext cx="4747320"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Resume Upload</a:t>
            </a:r>
          </a:p>
        </p:txBody>
      </p:sp>
      <p:sp>
        <p:nvSpPr>
          <p:cNvPr name="TextBox 7" id="7"/>
          <p:cNvSpPr txBox="true"/>
          <p:nvPr/>
        </p:nvSpPr>
        <p:spPr>
          <a:xfrm rot="0">
            <a:off x="162829" y="1273477"/>
            <a:ext cx="522387"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5.</a:t>
            </a:r>
          </a:p>
        </p:txBody>
      </p:sp>
      <p:sp>
        <p:nvSpPr>
          <p:cNvPr name="TextBox 8" id="8"/>
          <p:cNvSpPr txBox="true"/>
          <p:nvPr/>
        </p:nvSpPr>
        <p:spPr>
          <a:xfrm rot="0">
            <a:off x="1704034" y="7589574"/>
            <a:ext cx="7941882" cy="2519326"/>
          </a:xfrm>
          <a:prstGeom prst="rect">
            <a:avLst/>
          </a:prstGeom>
        </p:spPr>
        <p:txBody>
          <a:bodyPr anchor="t" rtlCol="false" tIns="0" lIns="0" bIns="0" rIns="0">
            <a:spAutoFit/>
          </a:bodyPr>
          <a:lstStyle/>
          <a:p>
            <a:pPr algn="l" marL="515965" indent="-257983" lvl="1">
              <a:lnSpc>
                <a:spcPts val="3345"/>
              </a:lnSpc>
              <a:buFont typeface="Arial"/>
              <a:buChar char="•"/>
            </a:pPr>
            <a:r>
              <a:rPr lang="en-US" sz="2389">
                <a:solidFill>
                  <a:srgbClr val="000000"/>
                </a:solidFill>
                <a:latin typeface="Noto Sans"/>
                <a:ea typeface="Noto Sans"/>
                <a:cs typeface="Noto Sans"/>
                <a:sym typeface="Noto Sans"/>
              </a:rPr>
              <a:t>Đây là chức năng tạm dừng upload.</a:t>
            </a:r>
          </a:p>
          <a:p>
            <a:pPr algn="l" marL="515965" indent="-257983" lvl="1">
              <a:lnSpc>
                <a:spcPts val="3345"/>
              </a:lnSpc>
              <a:buFont typeface="Arial"/>
              <a:buChar char="•"/>
            </a:pPr>
            <a:r>
              <a:rPr lang="en-US" sz="2389">
                <a:solidFill>
                  <a:srgbClr val="000000"/>
                </a:solidFill>
                <a:latin typeface="Noto Sans"/>
                <a:ea typeface="Noto Sans"/>
                <a:cs typeface="Noto Sans"/>
                <a:sym typeface="Noto Sans"/>
              </a:rPr>
              <a:t>Chương trình sử dụng ManualResetEventSlim.</a:t>
            </a:r>
          </a:p>
          <a:p>
            <a:pPr algn="l" marL="515965" indent="-257983" lvl="1">
              <a:lnSpc>
                <a:spcPts val="3345"/>
              </a:lnSpc>
              <a:buFont typeface="Arial"/>
              <a:buChar char="•"/>
            </a:pPr>
            <a:r>
              <a:rPr lang="en-US" sz="2389">
                <a:solidFill>
                  <a:srgbClr val="000000"/>
                </a:solidFill>
                <a:latin typeface="Noto Sans"/>
                <a:ea typeface="Noto Sans"/>
                <a:cs typeface="Noto Sans"/>
                <a:sym typeface="Noto Sans"/>
              </a:rPr>
              <a:t>Khi người dùng nhấn Pause, pauseEvent.Reset() sẽ chặn các luồng upload.</a:t>
            </a:r>
          </a:p>
          <a:p>
            <a:pPr algn="l" marL="515965" indent="-257983" lvl="1">
              <a:lnSpc>
                <a:spcPts val="3345"/>
              </a:lnSpc>
              <a:buFont typeface="Arial"/>
              <a:buChar char="•"/>
            </a:pPr>
            <a:r>
              <a:rPr lang="en-US" sz="2389">
                <a:solidFill>
                  <a:srgbClr val="000000"/>
                </a:solidFill>
                <a:latin typeface="Noto Sans"/>
                <a:ea typeface="Noto Sans"/>
                <a:cs typeface="Noto Sans"/>
                <a:sym typeface="Noto Sans"/>
              </a:rPr>
              <a:t>Các file đang upload sẽ chuyển sang trạng thái Paused.</a:t>
            </a:r>
          </a:p>
        </p:txBody>
      </p:sp>
      <p:sp>
        <p:nvSpPr>
          <p:cNvPr name="TextBox 9" id="9"/>
          <p:cNvSpPr txBox="true"/>
          <p:nvPr/>
        </p:nvSpPr>
        <p:spPr>
          <a:xfrm rot="0">
            <a:off x="9237144" y="7564761"/>
            <a:ext cx="9283595" cy="2398890"/>
          </a:xfrm>
          <a:prstGeom prst="rect">
            <a:avLst/>
          </a:prstGeom>
        </p:spPr>
        <p:txBody>
          <a:bodyPr anchor="t" rtlCol="false" tIns="0" lIns="0" bIns="0" rIns="0">
            <a:spAutoFit/>
          </a:bodyPr>
          <a:lstStyle/>
          <a:p>
            <a:pPr algn="l" marL="591896" indent="-295948" lvl="1">
              <a:lnSpc>
                <a:spcPts val="3838"/>
              </a:lnSpc>
              <a:buFont typeface="Arial"/>
              <a:buChar char="•"/>
            </a:pPr>
            <a:r>
              <a:rPr lang="en-US" sz="2741">
                <a:solidFill>
                  <a:srgbClr val="000000"/>
                </a:solidFill>
                <a:latin typeface="Noto Sans"/>
                <a:ea typeface="Noto Sans"/>
                <a:cs typeface="Noto Sans"/>
                <a:sym typeface="Noto Sans"/>
              </a:rPr>
              <a:t>Đây là chức năng tiếp tục upload.</a:t>
            </a:r>
          </a:p>
          <a:p>
            <a:pPr algn="l" marL="591896" indent="-295948" lvl="1">
              <a:lnSpc>
                <a:spcPts val="3838"/>
              </a:lnSpc>
              <a:buFont typeface="Arial"/>
              <a:buChar char="•"/>
            </a:pPr>
            <a:r>
              <a:rPr lang="en-US" sz="2741">
                <a:solidFill>
                  <a:srgbClr val="000000"/>
                </a:solidFill>
                <a:latin typeface="Noto Sans"/>
                <a:ea typeface="Noto Sans"/>
                <a:cs typeface="Noto Sans"/>
                <a:sym typeface="Noto Sans"/>
              </a:rPr>
              <a:t>Khi người dùng nhấn Resume, pauseEvent.Set() sẽ giải phóng các luồng đang chờ.</a:t>
            </a:r>
          </a:p>
          <a:p>
            <a:pPr algn="l" marL="591896" indent="-295948" lvl="1">
              <a:lnSpc>
                <a:spcPts val="3838"/>
              </a:lnSpc>
              <a:buFont typeface="Arial"/>
              <a:buChar char="•"/>
            </a:pPr>
            <a:r>
              <a:rPr lang="en-US" sz="2741">
                <a:solidFill>
                  <a:srgbClr val="000000"/>
                </a:solidFill>
                <a:latin typeface="Noto Sans"/>
                <a:ea typeface="Noto Sans"/>
                <a:cs typeface="Noto Sans"/>
                <a:sym typeface="Noto Sans"/>
              </a:rPr>
              <a:t>Các file sẽ tiếp tục upload từ vị trí trước đó.</a:t>
            </a:r>
          </a:p>
          <a:p>
            <a:pPr algn="l" marL="591896" indent="-295948" lvl="1">
              <a:lnSpc>
                <a:spcPts val="3838"/>
              </a:lnSpc>
              <a:buFont typeface="Arial"/>
              <a:buChar char="•"/>
            </a:pPr>
            <a:r>
              <a:rPr lang="en-US" sz="2741">
                <a:solidFill>
                  <a:srgbClr val="000000"/>
                </a:solidFill>
                <a:latin typeface="Noto Sans"/>
                <a:ea typeface="Noto Sans"/>
                <a:cs typeface="Noto Sans"/>
                <a:sym typeface="Noto Sans"/>
              </a:rPr>
              <a:t>Trạng thái file được đổi lại thành Uploading.</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028700" y="2450491"/>
            <a:ext cx="7206860" cy="5386018"/>
          </a:xfrm>
          <a:custGeom>
            <a:avLst/>
            <a:gdLst/>
            <a:ahLst/>
            <a:cxnLst/>
            <a:rect r="r" b="b" t="t" l="l"/>
            <a:pathLst>
              <a:path h="5386018" w="7206860">
                <a:moveTo>
                  <a:pt x="0" y="0"/>
                </a:moveTo>
                <a:lnTo>
                  <a:pt x="7206860" y="0"/>
                </a:lnTo>
                <a:lnTo>
                  <a:pt x="7206860" y="5386018"/>
                </a:lnTo>
                <a:lnTo>
                  <a:pt x="0" y="5386018"/>
                </a:lnTo>
                <a:lnTo>
                  <a:pt x="0" y="0"/>
                </a:lnTo>
                <a:close/>
              </a:path>
            </a:pathLst>
          </a:custGeom>
          <a:blipFill>
            <a:blip r:embed="rId3"/>
            <a:stretch>
              <a:fillRect l="0" t="0" r="0" b="0"/>
            </a:stretch>
          </a:blipFill>
        </p:spPr>
      </p:sp>
      <p:sp>
        <p:nvSpPr>
          <p:cNvPr name="Freeform 4" id="4"/>
          <p:cNvSpPr/>
          <p:nvPr/>
        </p:nvSpPr>
        <p:spPr>
          <a:xfrm flipH="false" flipV="false" rot="0">
            <a:off x="10377083" y="2362393"/>
            <a:ext cx="4888406" cy="5562214"/>
          </a:xfrm>
          <a:custGeom>
            <a:avLst/>
            <a:gdLst/>
            <a:ahLst/>
            <a:cxnLst/>
            <a:rect r="r" b="b" t="t" l="l"/>
            <a:pathLst>
              <a:path h="5562214" w="4888406">
                <a:moveTo>
                  <a:pt x="0" y="0"/>
                </a:moveTo>
                <a:lnTo>
                  <a:pt x="4888406" y="0"/>
                </a:lnTo>
                <a:lnTo>
                  <a:pt x="4888406" y="5562214"/>
                </a:lnTo>
                <a:lnTo>
                  <a:pt x="0" y="5562214"/>
                </a:lnTo>
                <a:lnTo>
                  <a:pt x="0" y="0"/>
                </a:lnTo>
                <a:close/>
              </a:path>
            </a:pathLst>
          </a:custGeom>
          <a:blipFill>
            <a:blip r:embed="rId4"/>
            <a:stretch>
              <a:fillRect l="0" t="0" r="0" b="0"/>
            </a:stretch>
          </a:blipFill>
        </p:spPr>
      </p:sp>
      <p:sp>
        <p:nvSpPr>
          <p:cNvPr name="TextBox 5" id="5"/>
          <p:cNvSpPr txBox="true"/>
          <p:nvPr/>
        </p:nvSpPr>
        <p:spPr>
          <a:xfrm rot="0">
            <a:off x="1028700" y="7798409"/>
            <a:ext cx="7719025" cy="2382888"/>
          </a:xfrm>
          <a:prstGeom prst="rect">
            <a:avLst/>
          </a:prstGeom>
        </p:spPr>
        <p:txBody>
          <a:bodyPr anchor="t" rtlCol="false" tIns="0" lIns="0" bIns="0" rIns="0">
            <a:spAutoFit/>
          </a:bodyPr>
          <a:lstStyle/>
          <a:p>
            <a:pPr algn="l" marL="489472" indent="-244736" lvl="1">
              <a:lnSpc>
                <a:spcPts val="3173"/>
              </a:lnSpc>
              <a:buFont typeface="Arial"/>
              <a:buChar char="•"/>
            </a:pPr>
            <a:r>
              <a:rPr lang="en-US" sz="2267">
                <a:solidFill>
                  <a:srgbClr val="000000"/>
                </a:solidFill>
                <a:latin typeface="Noto Sans"/>
                <a:ea typeface="Noto Sans"/>
                <a:cs typeface="Noto Sans"/>
                <a:sym typeface="Noto Sans"/>
              </a:rPr>
              <a:t>Chương trình tạo kết nối TCP tới Server.</a:t>
            </a:r>
          </a:p>
          <a:p>
            <a:pPr algn="l" marL="489472" indent="-244736" lvl="1">
              <a:lnSpc>
                <a:spcPts val="3173"/>
              </a:lnSpc>
              <a:buFont typeface="Arial"/>
              <a:buChar char="•"/>
            </a:pPr>
            <a:r>
              <a:rPr lang="en-US" sz="2267">
                <a:solidFill>
                  <a:srgbClr val="000000"/>
                </a:solidFill>
                <a:latin typeface="Noto Sans"/>
                <a:ea typeface="Noto Sans"/>
                <a:cs typeface="Noto Sans"/>
                <a:sym typeface="Noto Sans"/>
              </a:rPr>
              <a:t>Nếu không kết nối được trong vòng 5 giây sẽ báo lỗi.</a:t>
            </a:r>
          </a:p>
          <a:p>
            <a:pPr algn="l" marL="489472" indent="-244736" lvl="1">
              <a:lnSpc>
                <a:spcPts val="3173"/>
              </a:lnSpc>
              <a:buFont typeface="Arial"/>
              <a:buChar char="•"/>
            </a:pPr>
            <a:r>
              <a:rPr lang="en-US" sz="2267">
                <a:solidFill>
                  <a:srgbClr val="000000"/>
                </a:solidFill>
                <a:latin typeface="Noto Sans"/>
                <a:ea typeface="Noto Sans"/>
                <a:cs typeface="Noto Sans"/>
                <a:sym typeface="Noto Sans"/>
              </a:rPr>
              <a:t>Sau khi kết nối thành công, chương trình lấy NetworkStream.</a:t>
            </a:r>
          </a:p>
          <a:p>
            <a:pPr algn="l" marL="489472" indent="-244736" lvl="1">
              <a:lnSpc>
                <a:spcPts val="3173"/>
              </a:lnSpc>
              <a:buFont typeface="Arial"/>
              <a:buChar char="•"/>
            </a:pPr>
            <a:r>
              <a:rPr lang="en-US" sz="2267">
                <a:solidFill>
                  <a:srgbClr val="000000"/>
                </a:solidFill>
                <a:latin typeface="Noto Sans"/>
                <a:ea typeface="Noto Sans"/>
                <a:cs typeface="Noto Sans"/>
                <a:sym typeface="Noto Sans"/>
              </a:rPr>
              <a:t>Đồng thời mở file bằng FileStream để đọc dữ liệu gửi đi.</a:t>
            </a:r>
          </a:p>
        </p:txBody>
      </p:sp>
      <p:sp>
        <p:nvSpPr>
          <p:cNvPr name="TextBox 6" id="6"/>
          <p:cNvSpPr txBox="true"/>
          <p:nvPr/>
        </p:nvSpPr>
        <p:spPr>
          <a:xfrm rot="0">
            <a:off x="9144000" y="8134735"/>
            <a:ext cx="8497937" cy="1710236"/>
          </a:xfrm>
          <a:prstGeom prst="rect">
            <a:avLst/>
          </a:prstGeom>
        </p:spPr>
        <p:txBody>
          <a:bodyPr anchor="t" rtlCol="false" tIns="0" lIns="0" bIns="0" rIns="0">
            <a:spAutoFit/>
          </a:bodyPr>
          <a:lstStyle/>
          <a:p>
            <a:pPr algn="l" marL="530094" indent="-265047" lvl="1">
              <a:lnSpc>
                <a:spcPts val="3437"/>
              </a:lnSpc>
              <a:buFont typeface="Arial"/>
              <a:buChar char="•"/>
            </a:pPr>
            <a:r>
              <a:rPr lang="en-US" sz="2455">
                <a:solidFill>
                  <a:srgbClr val="000000"/>
                </a:solidFill>
                <a:latin typeface="Noto Sans"/>
                <a:ea typeface="Noto Sans"/>
                <a:cs typeface="Noto Sans"/>
                <a:sym typeface="Noto Sans"/>
              </a:rPr>
              <a:t>File được chia thành các khối dữ liệu nhỏ.</a:t>
            </a:r>
          </a:p>
          <a:p>
            <a:pPr algn="l" marL="530094" indent="-265047" lvl="1">
              <a:lnSpc>
                <a:spcPts val="3437"/>
              </a:lnSpc>
              <a:buFont typeface="Arial"/>
              <a:buChar char="•"/>
            </a:pPr>
            <a:r>
              <a:rPr lang="en-US" sz="2455">
                <a:solidFill>
                  <a:srgbClr val="000000"/>
                </a:solidFill>
                <a:latin typeface="Noto Sans"/>
                <a:ea typeface="Noto Sans"/>
                <a:cs typeface="Noto Sans"/>
                <a:sym typeface="Noto Sans"/>
              </a:rPr>
              <a:t>Client đọc từng phần từ ổ cứng bằng FileStream.</a:t>
            </a:r>
          </a:p>
          <a:p>
            <a:pPr algn="l" marL="530094" indent="-265047" lvl="1">
              <a:lnSpc>
                <a:spcPts val="3437"/>
              </a:lnSpc>
              <a:buFont typeface="Arial"/>
              <a:buChar char="•"/>
            </a:pPr>
            <a:r>
              <a:rPr lang="en-US" sz="2455">
                <a:solidFill>
                  <a:srgbClr val="000000"/>
                </a:solidFill>
                <a:latin typeface="Noto Sans"/>
                <a:ea typeface="Noto Sans"/>
                <a:cs typeface="Noto Sans"/>
                <a:sym typeface="Noto Sans"/>
              </a:rPr>
              <a:t>Sau đó gửi qua mạng bằng NetworkStream.</a:t>
            </a:r>
          </a:p>
          <a:p>
            <a:pPr algn="l" marL="530094" indent="-265047" lvl="1">
              <a:lnSpc>
                <a:spcPts val="3437"/>
              </a:lnSpc>
              <a:buFont typeface="Arial"/>
              <a:buChar char="•"/>
            </a:pPr>
            <a:r>
              <a:rPr lang="en-US" sz="2455">
                <a:solidFill>
                  <a:srgbClr val="000000"/>
                </a:solidFill>
                <a:latin typeface="Noto Sans"/>
                <a:ea typeface="Noto Sans"/>
                <a:cs typeface="Noto Sans"/>
                <a:sym typeface="Noto Sans"/>
              </a:rPr>
              <a:t>Quá trình lặp lại cho tới khi toàn bộ file được gửi xong.</a:t>
            </a:r>
          </a:p>
        </p:txBody>
      </p:sp>
      <p:sp>
        <p:nvSpPr>
          <p:cNvPr name="TextBox 7" id="7"/>
          <p:cNvSpPr txBox="true"/>
          <p:nvPr/>
        </p:nvSpPr>
        <p:spPr>
          <a:xfrm rot="0">
            <a:off x="1028700" y="1318124"/>
            <a:ext cx="338911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Upload File</a:t>
            </a:r>
          </a:p>
        </p:txBody>
      </p:sp>
      <p:sp>
        <p:nvSpPr>
          <p:cNvPr name="TextBox 8" id="8"/>
          <p:cNvSpPr txBox="true"/>
          <p:nvPr/>
        </p:nvSpPr>
        <p:spPr>
          <a:xfrm rot="0">
            <a:off x="364537" y="1318124"/>
            <a:ext cx="522387"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6.</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899022" y="3277381"/>
            <a:ext cx="8105334" cy="5198797"/>
          </a:xfrm>
          <a:custGeom>
            <a:avLst/>
            <a:gdLst/>
            <a:ahLst/>
            <a:cxnLst/>
            <a:rect r="r" b="b" t="t" l="l"/>
            <a:pathLst>
              <a:path h="5198797" w="8105334">
                <a:moveTo>
                  <a:pt x="0" y="0"/>
                </a:moveTo>
                <a:lnTo>
                  <a:pt x="8105334" y="0"/>
                </a:lnTo>
                <a:lnTo>
                  <a:pt x="8105334" y="5198797"/>
                </a:lnTo>
                <a:lnTo>
                  <a:pt x="0" y="5198797"/>
                </a:lnTo>
                <a:lnTo>
                  <a:pt x="0" y="0"/>
                </a:lnTo>
                <a:close/>
              </a:path>
            </a:pathLst>
          </a:custGeom>
          <a:blipFill>
            <a:blip r:embed="rId3"/>
            <a:stretch>
              <a:fillRect l="0" t="0" r="-25725" b="0"/>
            </a:stretch>
          </a:blipFill>
        </p:spPr>
      </p:sp>
      <p:sp>
        <p:nvSpPr>
          <p:cNvPr name="TextBox 4" id="4"/>
          <p:cNvSpPr txBox="true"/>
          <p:nvPr/>
        </p:nvSpPr>
        <p:spPr>
          <a:xfrm rot="0">
            <a:off x="10141916" y="3791239"/>
            <a:ext cx="6224110" cy="3927740"/>
          </a:xfrm>
          <a:prstGeom prst="rect">
            <a:avLst/>
          </a:prstGeom>
        </p:spPr>
        <p:txBody>
          <a:bodyPr anchor="t" rtlCol="false" tIns="0" lIns="0" bIns="0" rIns="0">
            <a:spAutoFit/>
          </a:bodyPr>
          <a:lstStyle/>
          <a:p>
            <a:pPr algn="l" marL="690135" indent="-345067" lvl="1">
              <a:lnSpc>
                <a:spcPts val="4475"/>
              </a:lnSpc>
              <a:buFont typeface="Arial"/>
              <a:buChar char="•"/>
            </a:pPr>
            <a:r>
              <a:rPr lang="en-US" sz="3196">
                <a:solidFill>
                  <a:srgbClr val="000000"/>
                </a:solidFill>
                <a:latin typeface="Noto Sans"/>
                <a:ea typeface="Noto Sans"/>
                <a:cs typeface="Noto Sans"/>
                <a:sym typeface="Noto Sans"/>
              </a:rPr>
              <a:t>Hệ thống tính tốc độ upload theo đơn vị MB/s.</a:t>
            </a:r>
          </a:p>
          <a:p>
            <a:pPr algn="l" marL="690135" indent="-345067" lvl="1">
              <a:lnSpc>
                <a:spcPts val="4475"/>
              </a:lnSpc>
              <a:buFont typeface="Arial"/>
              <a:buChar char="•"/>
            </a:pPr>
            <a:r>
              <a:rPr lang="en-US" sz="3196">
                <a:solidFill>
                  <a:srgbClr val="000000"/>
                </a:solidFill>
                <a:latin typeface="Noto Sans"/>
                <a:ea typeface="Noto Sans"/>
                <a:cs typeface="Noto Sans"/>
                <a:sym typeface="Noto Sans"/>
              </a:rPr>
              <a:t>Tốc độ được tính dựa trên:</a:t>
            </a:r>
          </a:p>
          <a:p>
            <a:pPr algn="l" marL="690135" indent="-345067" lvl="1">
              <a:lnSpc>
                <a:spcPts val="4475"/>
              </a:lnSpc>
              <a:buFont typeface="Arial"/>
              <a:buChar char="•"/>
            </a:pPr>
            <a:r>
              <a:rPr lang="en-US" sz="3196">
                <a:solidFill>
                  <a:srgbClr val="000000"/>
                </a:solidFill>
                <a:latin typeface="Noto Sans"/>
                <a:ea typeface="Noto Sans"/>
                <a:cs typeface="Noto Sans"/>
                <a:sym typeface="Noto Sans"/>
              </a:rPr>
              <a:t>Tổng dữ liệu đã gửi.</a:t>
            </a:r>
          </a:p>
          <a:p>
            <a:pPr algn="l" marL="690135" indent="-345067" lvl="1">
              <a:lnSpc>
                <a:spcPts val="4475"/>
              </a:lnSpc>
              <a:buFont typeface="Arial"/>
              <a:buChar char="•"/>
            </a:pPr>
            <a:r>
              <a:rPr lang="en-US" sz="3196">
                <a:solidFill>
                  <a:srgbClr val="000000"/>
                </a:solidFill>
                <a:latin typeface="Noto Sans"/>
                <a:ea typeface="Noto Sans"/>
                <a:cs typeface="Noto Sans"/>
                <a:sym typeface="Noto Sans"/>
              </a:rPr>
              <a:t>Thời gian upload đã trôi qua.</a:t>
            </a:r>
          </a:p>
          <a:p>
            <a:pPr algn="l" marL="690135" indent="-345067" lvl="1">
              <a:lnSpc>
                <a:spcPts val="4475"/>
              </a:lnSpc>
              <a:buFont typeface="Arial"/>
              <a:buChar char="•"/>
            </a:pPr>
            <a:r>
              <a:rPr lang="en-US" sz="3196">
                <a:solidFill>
                  <a:srgbClr val="000000"/>
                </a:solidFill>
                <a:latin typeface="Noto Sans"/>
                <a:ea typeface="Noto Sans"/>
                <a:cs typeface="Noto Sans"/>
                <a:sym typeface="Noto Sans"/>
              </a:rPr>
              <a:t>Thông tin tốc độ được cập nhật liên tục trên giao diện.</a:t>
            </a:r>
          </a:p>
        </p:txBody>
      </p:sp>
      <p:sp>
        <p:nvSpPr>
          <p:cNvPr name="TextBox 5" id="5"/>
          <p:cNvSpPr txBox="true"/>
          <p:nvPr/>
        </p:nvSpPr>
        <p:spPr>
          <a:xfrm rot="0">
            <a:off x="899022" y="1933029"/>
            <a:ext cx="752445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7.</a:t>
            </a:r>
            <a:r>
              <a:rPr lang="en-US" b="true" sz="4800">
                <a:solidFill>
                  <a:srgbClr val="000000"/>
                </a:solidFill>
                <a:latin typeface="Noto Sans Bold"/>
                <a:ea typeface="Noto Sans Bold"/>
                <a:cs typeface="Noto Sans Bold"/>
                <a:sym typeface="Noto Sans Bold"/>
              </a:rPr>
              <a:t>Hiển Thị Tốc Độ Upload</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028700" y="3012954"/>
            <a:ext cx="7029696" cy="5223082"/>
          </a:xfrm>
          <a:custGeom>
            <a:avLst/>
            <a:gdLst/>
            <a:ahLst/>
            <a:cxnLst/>
            <a:rect r="r" b="b" t="t" l="l"/>
            <a:pathLst>
              <a:path h="5223082" w="7029696">
                <a:moveTo>
                  <a:pt x="0" y="0"/>
                </a:moveTo>
                <a:lnTo>
                  <a:pt x="7029696" y="0"/>
                </a:lnTo>
                <a:lnTo>
                  <a:pt x="7029696" y="5223082"/>
                </a:lnTo>
                <a:lnTo>
                  <a:pt x="0" y="5223082"/>
                </a:lnTo>
                <a:lnTo>
                  <a:pt x="0" y="0"/>
                </a:lnTo>
                <a:close/>
              </a:path>
            </a:pathLst>
          </a:custGeom>
          <a:blipFill>
            <a:blip r:embed="rId3"/>
            <a:stretch>
              <a:fillRect l="0" t="0" r="0" b="0"/>
            </a:stretch>
          </a:blipFill>
        </p:spPr>
      </p:sp>
      <p:sp>
        <p:nvSpPr>
          <p:cNvPr name="TextBox 4" id="4"/>
          <p:cNvSpPr txBox="true"/>
          <p:nvPr/>
        </p:nvSpPr>
        <p:spPr>
          <a:xfrm rot="0">
            <a:off x="9264095" y="3930968"/>
            <a:ext cx="7714715" cy="3712226"/>
          </a:xfrm>
          <a:prstGeom prst="rect">
            <a:avLst/>
          </a:prstGeom>
        </p:spPr>
        <p:txBody>
          <a:bodyPr anchor="t" rtlCol="false" tIns="0" lIns="0" bIns="0" rIns="0">
            <a:spAutoFit/>
          </a:bodyPr>
          <a:lstStyle/>
          <a:p>
            <a:pPr algn="l" marL="570235" indent="-285118" lvl="1">
              <a:lnSpc>
                <a:spcPts val="3697"/>
              </a:lnSpc>
              <a:buFont typeface="Arial"/>
              <a:buChar char="•"/>
            </a:pPr>
            <a:r>
              <a:rPr lang="en-US" sz="2641">
                <a:solidFill>
                  <a:srgbClr val="000000"/>
                </a:solidFill>
                <a:latin typeface="Noto Sans"/>
                <a:ea typeface="Noto Sans"/>
                <a:cs typeface="Noto Sans"/>
                <a:sym typeface="Noto Sans"/>
              </a:rPr>
              <a:t>Client kiểm tra trạng thái Server sau mỗi 2 giây.</a:t>
            </a:r>
          </a:p>
          <a:p>
            <a:pPr algn="l" marL="570235" indent="-285118" lvl="1">
              <a:lnSpc>
                <a:spcPts val="3697"/>
              </a:lnSpc>
              <a:buFont typeface="Arial"/>
              <a:buChar char="•"/>
            </a:pPr>
            <a:r>
              <a:rPr lang="en-US" sz="2641">
                <a:solidFill>
                  <a:srgbClr val="000000"/>
                </a:solidFill>
                <a:latin typeface="Noto Sans"/>
                <a:ea typeface="Noto Sans"/>
                <a:cs typeface="Noto Sans"/>
                <a:sym typeface="Noto Sans"/>
              </a:rPr>
              <a:t>Nếu Server không phản hồi:</a:t>
            </a:r>
          </a:p>
          <a:p>
            <a:pPr algn="l">
              <a:lnSpc>
                <a:spcPts val="3697"/>
              </a:lnSpc>
            </a:pPr>
            <a:r>
              <a:rPr lang="en-US" sz="2641">
                <a:solidFill>
                  <a:srgbClr val="000000"/>
                </a:solidFill>
                <a:latin typeface="Noto Sans"/>
                <a:ea typeface="Noto Sans"/>
                <a:cs typeface="Noto Sans"/>
                <a:sym typeface="Noto Sans"/>
              </a:rPr>
              <a:t>             Dừng upload.</a:t>
            </a:r>
          </a:p>
          <a:p>
            <a:pPr algn="l">
              <a:lnSpc>
                <a:spcPts val="3697"/>
              </a:lnSpc>
            </a:pPr>
            <a:r>
              <a:rPr lang="en-US" sz="2641">
                <a:solidFill>
                  <a:srgbClr val="000000"/>
                </a:solidFill>
                <a:latin typeface="Noto Sans"/>
                <a:ea typeface="Noto Sans"/>
                <a:cs typeface="Noto Sans"/>
                <a:sym typeface="Noto Sans"/>
              </a:rPr>
              <a:t>             </a:t>
            </a:r>
            <a:r>
              <a:rPr lang="en-US" sz="2641">
                <a:solidFill>
                  <a:srgbClr val="000000"/>
                </a:solidFill>
                <a:latin typeface="Noto Sans"/>
                <a:ea typeface="Noto Sans"/>
                <a:cs typeface="Noto Sans"/>
                <a:sym typeface="Noto Sans"/>
              </a:rPr>
              <a:t>Đóng các kết nối đang hoạt động.</a:t>
            </a:r>
          </a:p>
          <a:p>
            <a:pPr algn="l">
              <a:lnSpc>
                <a:spcPts val="3697"/>
              </a:lnSpc>
            </a:pPr>
            <a:r>
              <a:rPr lang="en-US" sz="2641">
                <a:solidFill>
                  <a:srgbClr val="000000"/>
                </a:solidFill>
                <a:latin typeface="Noto Sans"/>
                <a:ea typeface="Noto Sans"/>
                <a:cs typeface="Noto Sans"/>
                <a:sym typeface="Noto Sans"/>
              </a:rPr>
              <a:t>             </a:t>
            </a:r>
            <a:r>
              <a:rPr lang="en-US" sz="2641">
                <a:solidFill>
                  <a:srgbClr val="000000"/>
                </a:solidFill>
                <a:latin typeface="Noto Sans"/>
                <a:ea typeface="Noto Sans"/>
                <a:cs typeface="Noto Sans"/>
                <a:sym typeface="Noto Sans"/>
              </a:rPr>
              <a:t>Chuyển trạng thái sang Disconnected.</a:t>
            </a:r>
          </a:p>
          <a:p>
            <a:pPr algn="l" marL="570235" indent="-285118" lvl="1">
              <a:lnSpc>
                <a:spcPts val="3697"/>
              </a:lnSpc>
              <a:buFont typeface="Arial"/>
              <a:buChar char="•"/>
            </a:pPr>
            <a:r>
              <a:rPr lang="en-US" sz="2641">
                <a:solidFill>
                  <a:srgbClr val="000000"/>
                </a:solidFill>
                <a:latin typeface="Noto Sans"/>
                <a:ea typeface="Noto Sans"/>
                <a:cs typeface="Noto Sans"/>
                <a:sym typeface="Noto Sans"/>
              </a:rPr>
              <a:t>Điều này giúp tránh lỗi khi Server bị tắt đột ngột.</a:t>
            </a:r>
          </a:p>
        </p:txBody>
      </p:sp>
      <p:sp>
        <p:nvSpPr>
          <p:cNvPr name="TextBox 5" id="5"/>
          <p:cNvSpPr txBox="true"/>
          <p:nvPr/>
        </p:nvSpPr>
        <p:spPr>
          <a:xfrm rot="0">
            <a:off x="1028700" y="1824417"/>
            <a:ext cx="5343525"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8.</a:t>
            </a:r>
            <a:r>
              <a:rPr lang="en-US" b="true" sz="4800">
                <a:solidFill>
                  <a:srgbClr val="000000"/>
                </a:solidFill>
                <a:latin typeface="Noto Sans Bold"/>
                <a:ea typeface="Noto Sans Bold"/>
                <a:cs typeface="Noto Sans Bold"/>
                <a:sym typeface="Noto Sans Bold"/>
              </a:rPr>
              <a:t>Giám Sát Server</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283260" y="2652166"/>
            <a:ext cx="8615164" cy="5261956"/>
          </a:xfrm>
          <a:custGeom>
            <a:avLst/>
            <a:gdLst/>
            <a:ahLst/>
            <a:cxnLst/>
            <a:rect r="r" b="b" t="t" l="l"/>
            <a:pathLst>
              <a:path h="5261956" w="8615164">
                <a:moveTo>
                  <a:pt x="0" y="0"/>
                </a:moveTo>
                <a:lnTo>
                  <a:pt x="8615164" y="0"/>
                </a:lnTo>
                <a:lnTo>
                  <a:pt x="8615164" y="5261956"/>
                </a:lnTo>
                <a:lnTo>
                  <a:pt x="0" y="5261956"/>
                </a:lnTo>
                <a:lnTo>
                  <a:pt x="0" y="0"/>
                </a:lnTo>
                <a:close/>
              </a:path>
            </a:pathLst>
          </a:custGeom>
          <a:blipFill>
            <a:blip r:embed="rId3"/>
            <a:stretch>
              <a:fillRect l="0" t="0" r="0" b="0"/>
            </a:stretch>
          </a:blipFill>
        </p:spPr>
      </p:sp>
      <p:sp>
        <p:nvSpPr>
          <p:cNvPr name="TextBox 4" id="4"/>
          <p:cNvSpPr txBox="true"/>
          <p:nvPr/>
        </p:nvSpPr>
        <p:spPr>
          <a:xfrm rot="0">
            <a:off x="11544742" y="3136045"/>
            <a:ext cx="5052017" cy="4513604"/>
          </a:xfrm>
          <a:prstGeom prst="rect">
            <a:avLst/>
          </a:prstGeom>
        </p:spPr>
        <p:txBody>
          <a:bodyPr anchor="t" rtlCol="false" tIns="0" lIns="0" bIns="0" rIns="0">
            <a:spAutoFit/>
          </a:bodyPr>
          <a:lstStyle/>
          <a:p>
            <a:pPr algn="l" marL="616466" indent="-308233" lvl="1">
              <a:lnSpc>
                <a:spcPts val="3997"/>
              </a:lnSpc>
              <a:buFont typeface="Arial"/>
              <a:buChar char="•"/>
            </a:pPr>
            <a:r>
              <a:rPr lang="en-US" sz="2855">
                <a:solidFill>
                  <a:srgbClr val="000000"/>
                </a:solidFill>
                <a:latin typeface="Noto Sans"/>
                <a:ea typeface="Noto Sans"/>
                <a:cs typeface="Noto Sans"/>
                <a:sym typeface="Noto Sans"/>
              </a:rPr>
              <a:t>Hệ thống hỗ trợ kéo thả file trực tiếp vào giao diện.</a:t>
            </a:r>
          </a:p>
          <a:p>
            <a:pPr algn="l" marL="616466" indent="-308233" lvl="1">
              <a:lnSpc>
                <a:spcPts val="3997"/>
              </a:lnSpc>
              <a:buFont typeface="Arial"/>
              <a:buChar char="•"/>
            </a:pPr>
            <a:r>
              <a:rPr lang="en-US" sz="2855">
                <a:solidFill>
                  <a:srgbClr val="000000"/>
                </a:solidFill>
                <a:latin typeface="Noto Sans"/>
                <a:ea typeface="Noto Sans"/>
                <a:cs typeface="Noto Sans"/>
                <a:sym typeface="Noto Sans"/>
              </a:rPr>
              <a:t>Các file nhận được sẽ được chuyển vào AddFiles().</a:t>
            </a:r>
          </a:p>
          <a:p>
            <a:pPr algn="l" marL="616466" indent="-308233" lvl="1">
              <a:lnSpc>
                <a:spcPts val="3997"/>
              </a:lnSpc>
              <a:buFont typeface="Arial"/>
              <a:buChar char="•"/>
            </a:pPr>
            <a:r>
              <a:rPr lang="en-US" sz="2855">
                <a:solidFill>
                  <a:srgbClr val="000000"/>
                </a:solidFill>
                <a:latin typeface="Noto Sans"/>
                <a:ea typeface="Noto Sans"/>
                <a:cs typeface="Noto Sans"/>
                <a:sym typeface="Noto Sans"/>
              </a:rPr>
              <a:t>Sau khi thêm file xong, giao diện sẽ trở về trạng thái ban đầu</a:t>
            </a:r>
          </a:p>
        </p:txBody>
      </p:sp>
      <p:sp>
        <p:nvSpPr>
          <p:cNvPr name="TextBox 5" id="5"/>
          <p:cNvSpPr txBox="true"/>
          <p:nvPr/>
        </p:nvSpPr>
        <p:spPr>
          <a:xfrm rot="0">
            <a:off x="1283260" y="1545130"/>
            <a:ext cx="623262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9.</a:t>
            </a:r>
            <a:r>
              <a:rPr lang="en-US" b="true" sz="4800">
                <a:solidFill>
                  <a:srgbClr val="000000"/>
                </a:solidFill>
                <a:latin typeface="Noto Sans Bold"/>
                <a:ea typeface="Noto Sans Bold"/>
                <a:cs typeface="Noto Sans Bold"/>
                <a:sym typeface="Noto Sans Bold"/>
              </a:rPr>
              <a:t>Drag And Drop File</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191583" y="2781791"/>
            <a:ext cx="10875611" cy="2184833"/>
          </a:xfrm>
          <a:custGeom>
            <a:avLst/>
            <a:gdLst/>
            <a:ahLst/>
            <a:cxnLst/>
            <a:rect r="r" b="b" t="t" l="l"/>
            <a:pathLst>
              <a:path h="2184833" w="10875611">
                <a:moveTo>
                  <a:pt x="0" y="0"/>
                </a:moveTo>
                <a:lnTo>
                  <a:pt x="10875611" y="0"/>
                </a:lnTo>
                <a:lnTo>
                  <a:pt x="10875611" y="2184833"/>
                </a:lnTo>
                <a:lnTo>
                  <a:pt x="0" y="2184833"/>
                </a:lnTo>
                <a:lnTo>
                  <a:pt x="0" y="0"/>
                </a:lnTo>
                <a:close/>
              </a:path>
            </a:pathLst>
          </a:custGeom>
          <a:blipFill>
            <a:blip r:embed="rId3"/>
            <a:stretch>
              <a:fillRect l="0" t="0" r="0" b="0"/>
            </a:stretch>
          </a:blipFill>
        </p:spPr>
      </p:sp>
      <p:sp>
        <p:nvSpPr>
          <p:cNvPr name="TextBox 4" id="4"/>
          <p:cNvSpPr txBox="true"/>
          <p:nvPr/>
        </p:nvSpPr>
        <p:spPr>
          <a:xfrm rot="0">
            <a:off x="1028700" y="5185699"/>
            <a:ext cx="14495562" cy="3410525"/>
          </a:xfrm>
          <a:prstGeom prst="rect">
            <a:avLst/>
          </a:prstGeom>
        </p:spPr>
        <p:txBody>
          <a:bodyPr anchor="t" rtlCol="false" tIns="0" lIns="0" bIns="0" rIns="0">
            <a:spAutoFit/>
          </a:bodyPr>
          <a:lstStyle/>
          <a:p>
            <a:pPr algn="l" marL="723776" indent="-361888" lvl="1">
              <a:lnSpc>
                <a:spcPts val="4693"/>
              </a:lnSpc>
              <a:buFont typeface="Arial"/>
              <a:buChar char="•"/>
            </a:pPr>
            <a:r>
              <a:rPr lang="en-US" sz="3352">
                <a:solidFill>
                  <a:srgbClr val="000000"/>
                </a:solidFill>
                <a:latin typeface="Noto Sans"/>
                <a:ea typeface="Noto Sans"/>
                <a:cs typeface="Noto Sans"/>
                <a:sym typeface="Noto Sans"/>
              </a:rPr>
              <a:t>Khi người dùng đóng chương trình:</a:t>
            </a:r>
          </a:p>
          <a:p>
            <a:pPr algn="just" marL="1447551" indent="-482517" lvl="2">
              <a:lnSpc>
                <a:spcPts val="4492"/>
              </a:lnSpc>
              <a:buFont typeface="Arial"/>
              <a:buChar char="⚬"/>
            </a:pPr>
            <a:r>
              <a:rPr lang="en-US" sz="3352">
                <a:solidFill>
                  <a:srgbClr val="000000"/>
                </a:solidFill>
                <a:latin typeface="Noto Sans"/>
                <a:ea typeface="Noto Sans"/>
                <a:cs typeface="Noto Sans"/>
                <a:sym typeface="Noto Sans"/>
              </a:rPr>
              <a:t>Ngắt kết nối tới Server.</a:t>
            </a:r>
          </a:p>
          <a:p>
            <a:pPr algn="just" marL="1447551" indent="-482517" lvl="2">
              <a:lnSpc>
                <a:spcPts val="4492"/>
              </a:lnSpc>
              <a:buFont typeface="Arial"/>
              <a:buChar char="⚬"/>
            </a:pPr>
            <a:r>
              <a:rPr lang="en-US" sz="3352">
                <a:solidFill>
                  <a:srgbClr val="000000"/>
                </a:solidFill>
                <a:latin typeface="Noto Sans"/>
                <a:ea typeface="Noto Sans"/>
                <a:cs typeface="Noto Sans"/>
                <a:sym typeface="Noto Sans"/>
              </a:rPr>
              <a:t>Hủy upload đang chạy.</a:t>
            </a:r>
          </a:p>
          <a:p>
            <a:pPr algn="just" marL="1447551" indent="-482517" lvl="2">
              <a:lnSpc>
                <a:spcPts val="4492"/>
              </a:lnSpc>
              <a:buFont typeface="Arial"/>
              <a:buChar char="⚬"/>
            </a:pPr>
            <a:r>
              <a:rPr lang="en-US" sz="3352">
                <a:solidFill>
                  <a:srgbClr val="000000"/>
                </a:solidFill>
                <a:latin typeface="Noto Sans"/>
                <a:ea typeface="Noto Sans"/>
                <a:cs typeface="Noto Sans"/>
                <a:sym typeface="Noto Sans"/>
              </a:rPr>
              <a:t>Đóng các kết nối TCP còn mở.</a:t>
            </a:r>
          </a:p>
          <a:p>
            <a:pPr algn="just" marL="1447551" indent="-482517" lvl="2">
              <a:lnSpc>
                <a:spcPts val="4492"/>
              </a:lnSpc>
              <a:buFont typeface="Arial"/>
              <a:buChar char="⚬"/>
            </a:pPr>
            <a:r>
              <a:rPr lang="en-US" sz="3352">
                <a:solidFill>
                  <a:srgbClr val="000000"/>
                </a:solidFill>
                <a:latin typeface="Noto Sans"/>
                <a:ea typeface="Noto Sans"/>
                <a:cs typeface="Noto Sans"/>
                <a:sym typeface="Noto Sans"/>
              </a:rPr>
              <a:t>Giải phóng tài nguyên hệ thống.</a:t>
            </a:r>
          </a:p>
          <a:p>
            <a:pPr algn="l" marL="723776" indent="-361888" lvl="1">
              <a:lnSpc>
                <a:spcPts val="4693"/>
              </a:lnSpc>
              <a:buFont typeface="Arial"/>
              <a:buChar char="•"/>
            </a:pPr>
            <a:r>
              <a:rPr lang="en-US" sz="3352">
                <a:solidFill>
                  <a:srgbClr val="000000"/>
                </a:solidFill>
                <a:latin typeface="Noto Sans"/>
                <a:ea typeface="Noto Sans"/>
                <a:cs typeface="Noto Sans"/>
                <a:sym typeface="Noto Sans"/>
              </a:rPr>
              <a:t>Điều này giúp tránh tình trạng socket bị treo sau khi thoát ứng dụng.</a:t>
            </a:r>
          </a:p>
        </p:txBody>
      </p:sp>
      <p:sp>
        <p:nvSpPr>
          <p:cNvPr name="TextBox 5" id="5"/>
          <p:cNvSpPr txBox="true"/>
          <p:nvPr/>
        </p:nvSpPr>
        <p:spPr>
          <a:xfrm rot="0">
            <a:off x="1191583" y="1684773"/>
            <a:ext cx="576679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10.</a:t>
            </a:r>
            <a:r>
              <a:rPr lang="en-US" b="true" sz="4800">
                <a:solidFill>
                  <a:srgbClr val="000000"/>
                </a:solidFill>
                <a:latin typeface="Noto Sans Bold"/>
                <a:ea typeface="Noto Sans Bold"/>
                <a:cs typeface="Noto Sans Bold"/>
                <a:sym typeface="Noto Sans Bold"/>
              </a:rPr>
              <a:t>Đóng Ứng Dụng</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3755380" y="1724196"/>
            <a:ext cx="9743837"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TỔNG QUAN GIAO DIỆN SERVER </a:t>
            </a:r>
          </a:p>
        </p:txBody>
      </p:sp>
      <p:sp>
        <p:nvSpPr>
          <p:cNvPr name="TextBox 4" id="4"/>
          <p:cNvSpPr txBox="true"/>
          <p:nvPr/>
        </p:nvSpPr>
        <p:spPr>
          <a:xfrm rot="0">
            <a:off x="1871331" y="2576582"/>
            <a:ext cx="1475065"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Mục tiêu:</a:t>
            </a:r>
          </a:p>
        </p:txBody>
      </p:sp>
      <p:sp>
        <p:nvSpPr>
          <p:cNvPr name="TextBox 5" id="5"/>
          <p:cNvSpPr txBox="true"/>
          <p:nvPr/>
        </p:nvSpPr>
        <p:spPr>
          <a:xfrm rot="0">
            <a:off x="1578949" y="3063875"/>
            <a:ext cx="14733065" cy="173672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Noto Sans"/>
                <a:ea typeface="Noto Sans"/>
                <a:cs typeface="Noto Sans"/>
                <a:sym typeface="Noto Sans"/>
              </a:rPr>
              <a:t>Giao diện Uploaf Server được thiết kế nhằm hỗ trợ người quản trị theo dõi toàn bộ quá trình truyền tải file theo thời gian thực. Thay vì phải quan sát dữ liệu qua của sổ Console, mọi thông tin quan trọng như trạng thái Server, danh sách Client, tiến trình nhận file và nhật ký hoạt động đều được hiển thị trực quan trên giao diện WPF.</a:t>
            </a:r>
          </a:p>
        </p:txBody>
      </p:sp>
      <p:sp>
        <p:nvSpPr>
          <p:cNvPr name="TextBox 6" id="6"/>
          <p:cNvSpPr txBox="true"/>
          <p:nvPr/>
        </p:nvSpPr>
        <p:spPr>
          <a:xfrm rot="0">
            <a:off x="1871331" y="5095875"/>
            <a:ext cx="3467338"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Công nghệ WPF (.NET)</a:t>
            </a:r>
          </a:p>
        </p:txBody>
      </p:sp>
      <p:sp>
        <p:nvSpPr>
          <p:cNvPr name="TextBox 7" id="7"/>
          <p:cNvSpPr txBox="true"/>
          <p:nvPr/>
        </p:nvSpPr>
        <p:spPr>
          <a:xfrm rot="0">
            <a:off x="1578949" y="5584825"/>
            <a:ext cx="14733065" cy="129857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Noto Sans"/>
                <a:ea typeface="Noto Sans"/>
                <a:cs typeface="Noto Sans"/>
                <a:sym typeface="Noto Sans"/>
              </a:rPr>
              <a:t>Giao diện được xây dựng bằng Windows Presentation Foundation (WPF), cho phép tách biệt hoàn toàn phần hiển thị (XAML) và phần xử lý nghiệp vụ (Code-behind). Điều này giúp việc bảo trì, nâng cấp giao diện và mở rộng chức năng trở nên dễ dàng hơn.</a:t>
            </a:r>
          </a:p>
        </p:txBody>
      </p:sp>
      <p:sp>
        <p:nvSpPr>
          <p:cNvPr name="TextBox 8" id="8"/>
          <p:cNvSpPr txBox="true"/>
          <p:nvPr/>
        </p:nvSpPr>
        <p:spPr>
          <a:xfrm rot="0">
            <a:off x="1871331" y="7178675"/>
            <a:ext cx="2942868"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Thiết kế trực quan</a:t>
            </a:r>
          </a:p>
        </p:txBody>
      </p:sp>
      <p:sp>
        <p:nvSpPr>
          <p:cNvPr name="TextBox 9" id="9"/>
          <p:cNvSpPr txBox="true"/>
          <p:nvPr/>
        </p:nvSpPr>
        <p:spPr>
          <a:xfrm rot="0">
            <a:off x="1578949" y="7667625"/>
            <a:ext cx="14733065" cy="1298575"/>
          </a:xfrm>
          <a:prstGeom prst="rect">
            <a:avLst/>
          </a:prstGeom>
        </p:spPr>
        <p:txBody>
          <a:bodyPr anchor="t" rtlCol="false" tIns="0" lIns="0" bIns="0" rIns="0">
            <a:spAutoFit/>
          </a:bodyPr>
          <a:lstStyle/>
          <a:p>
            <a:pPr algn="l">
              <a:lnSpc>
                <a:spcPts val="3499"/>
              </a:lnSpc>
              <a:spcBef>
                <a:spcPct val="0"/>
              </a:spcBef>
            </a:pPr>
            <a:r>
              <a:rPr lang="en-US" sz="2499">
                <a:solidFill>
                  <a:srgbClr val="000000"/>
                </a:solidFill>
                <a:latin typeface="Noto Sans"/>
                <a:ea typeface="Noto Sans"/>
                <a:cs typeface="Noto Sans"/>
                <a:sym typeface="Noto Sans"/>
              </a:rPr>
              <a:t>Giao diện sử dụng bố cục theo các nhóm chức năng rõ ràng (GroupBox) kết hợp với DataGrid, ListView và TextBox để hiển thị dữ liệu động. Các thành phần được cập nhật liên tục trong quá trình Server hoạt động mà không cần tải lại giao diện.</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7581698" y="2934685"/>
            <a:ext cx="10129760" cy="5529092"/>
          </a:xfrm>
          <a:custGeom>
            <a:avLst/>
            <a:gdLst/>
            <a:ahLst/>
            <a:cxnLst/>
            <a:rect r="r" b="b" t="t" l="l"/>
            <a:pathLst>
              <a:path h="5529092" w="10129760">
                <a:moveTo>
                  <a:pt x="0" y="0"/>
                </a:moveTo>
                <a:lnTo>
                  <a:pt x="10129760" y="0"/>
                </a:lnTo>
                <a:lnTo>
                  <a:pt x="10129760" y="5529092"/>
                </a:lnTo>
                <a:lnTo>
                  <a:pt x="0" y="5529092"/>
                </a:lnTo>
                <a:lnTo>
                  <a:pt x="0" y="0"/>
                </a:lnTo>
                <a:close/>
              </a:path>
            </a:pathLst>
          </a:custGeom>
          <a:blipFill>
            <a:blip r:embed="rId3"/>
            <a:stretch>
              <a:fillRect l="0" t="0" r="0" b="0"/>
            </a:stretch>
          </a:blipFill>
        </p:spPr>
      </p:sp>
      <p:sp>
        <p:nvSpPr>
          <p:cNvPr name="TextBox 4" id="4"/>
          <p:cNvSpPr txBox="true"/>
          <p:nvPr/>
        </p:nvSpPr>
        <p:spPr>
          <a:xfrm rot="0">
            <a:off x="4799407" y="1437114"/>
            <a:ext cx="784717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Kiến trúc giao diện Server</a:t>
            </a:r>
          </a:p>
        </p:txBody>
      </p:sp>
      <p:sp>
        <p:nvSpPr>
          <p:cNvPr name="TextBox 5" id="5"/>
          <p:cNvSpPr txBox="true"/>
          <p:nvPr/>
        </p:nvSpPr>
        <p:spPr>
          <a:xfrm rot="0">
            <a:off x="1220097" y="3030601"/>
            <a:ext cx="5689992" cy="17367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Giao diện UPload Server được chia thành nhiều khu vực chức năng độc lập nhằm giúp người quản trị dễ dàng theo dõi trạng thái của hệ thống</a:t>
            </a:r>
          </a:p>
        </p:txBody>
      </p:sp>
      <p:sp>
        <p:nvSpPr>
          <p:cNvPr name="TextBox 6" id="6"/>
          <p:cNvSpPr txBox="true"/>
          <p:nvPr/>
        </p:nvSpPr>
        <p:spPr>
          <a:xfrm rot="0">
            <a:off x="1626796" y="5105400"/>
            <a:ext cx="5283293" cy="3106420"/>
          </a:xfrm>
          <a:prstGeom prst="rect">
            <a:avLst/>
          </a:prstGeom>
        </p:spPr>
        <p:txBody>
          <a:bodyPr anchor="t" rtlCol="false" tIns="0" lIns="0" bIns="0" rIns="0">
            <a:spAutoFit/>
          </a:bodyPr>
          <a:lstStyle/>
          <a:p>
            <a:pPr algn="just" marL="474981" indent="-237491" lvl="1">
              <a:lnSpc>
                <a:spcPts val="3080"/>
              </a:lnSpc>
              <a:buFont typeface="Arial"/>
              <a:buChar char="•"/>
            </a:pPr>
            <a:r>
              <a:rPr lang="en-US" b="true" sz="2200">
                <a:solidFill>
                  <a:srgbClr val="000000"/>
                </a:solidFill>
                <a:latin typeface="Noto Sans Bold"/>
                <a:ea typeface="Noto Sans Bold"/>
                <a:cs typeface="Noto Sans Bold"/>
                <a:sym typeface="Noto Sans Bold"/>
              </a:rPr>
              <a:t>Server Control</a:t>
            </a:r>
            <a:r>
              <a:rPr lang="en-US" sz="2200">
                <a:solidFill>
                  <a:srgbClr val="000000"/>
                </a:solidFill>
                <a:latin typeface="Noto Sans"/>
                <a:ea typeface="Noto Sans"/>
                <a:cs typeface="Noto Sans"/>
                <a:sym typeface="Noto Sans"/>
              </a:rPr>
              <a:t>: Nhập IP, Port và điều khiển Start/ Stop</a:t>
            </a:r>
          </a:p>
          <a:p>
            <a:pPr algn="just" marL="474981" indent="-237491" lvl="1">
              <a:lnSpc>
                <a:spcPts val="3080"/>
              </a:lnSpc>
              <a:buFont typeface="Arial"/>
              <a:buChar char="•"/>
            </a:pPr>
            <a:r>
              <a:rPr lang="en-US" b="true" sz="2200">
                <a:solidFill>
                  <a:srgbClr val="000000"/>
                </a:solidFill>
                <a:latin typeface="Noto Sans Bold"/>
                <a:ea typeface="Noto Sans Bold"/>
                <a:cs typeface="Noto Sans Bold"/>
                <a:sym typeface="Noto Sans Bold"/>
              </a:rPr>
              <a:t>Connect Clients</a:t>
            </a:r>
            <a:r>
              <a:rPr lang="en-US" sz="2200">
                <a:solidFill>
                  <a:srgbClr val="000000"/>
                </a:solidFill>
                <a:latin typeface="Noto Sans"/>
                <a:ea typeface="Noto Sans"/>
                <a:cs typeface="Noto Sans"/>
                <a:sym typeface="Noto Sans"/>
              </a:rPr>
              <a:t>: Hiển thị danh sách các Client đang kết nối</a:t>
            </a:r>
          </a:p>
          <a:p>
            <a:pPr algn="just" marL="474981" indent="-237491" lvl="1">
              <a:lnSpc>
                <a:spcPts val="3080"/>
              </a:lnSpc>
              <a:buFont typeface="Arial"/>
              <a:buChar char="•"/>
            </a:pPr>
            <a:r>
              <a:rPr lang="en-US" b="true" sz="2200">
                <a:solidFill>
                  <a:srgbClr val="000000"/>
                </a:solidFill>
                <a:latin typeface="Noto Sans Bold"/>
                <a:ea typeface="Noto Sans Bold"/>
                <a:cs typeface="Noto Sans Bold"/>
                <a:sym typeface="Noto Sans Bold"/>
              </a:rPr>
              <a:t>Received Files</a:t>
            </a:r>
            <a:r>
              <a:rPr lang="en-US" sz="2200">
                <a:solidFill>
                  <a:srgbClr val="000000"/>
                </a:solidFill>
                <a:latin typeface="Noto Sans"/>
                <a:ea typeface="Noto Sans"/>
                <a:cs typeface="Noto Sans"/>
                <a:sym typeface="Noto Sans"/>
              </a:rPr>
              <a:t>: Theo dõi các file đã nhận cùng trạng thái xử lý</a:t>
            </a:r>
          </a:p>
          <a:p>
            <a:pPr algn="just" marL="474981" indent="-237491" lvl="1">
              <a:lnSpc>
                <a:spcPts val="3080"/>
              </a:lnSpc>
              <a:buFont typeface="Arial"/>
              <a:buChar char="•"/>
            </a:pPr>
            <a:r>
              <a:rPr lang="en-US" b="true" sz="2200">
                <a:solidFill>
                  <a:srgbClr val="000000"/>
                </a:solidFill>
                <a:latin typeface="Noto Sans Bold"/>
                <a:ea typeface="Noto Sans Bold"/>
                <a:cs typeface="Noto Sans Bold"/>
                <a:sym typeface="Noto Sans Bold"/>
              </a:rPr>
              <a:t>Activity Log</a:t>
            </a:r>
            <a:r>
              <a:rPr lang="en-US" sz="2200">
                <a:solidFill>
                  <a:srgbClr val="000000"/>
                </a:solidFill>
                <a:latin typeface="Noto Sans"/>
                <a:ea typeface="Noto Sans"/>
                <a:cs typeface="Noto Sans"/>
                <a:sym typeface="Noto Sans"/>
              </a:rPr>
              <a:t>: Ghi lại toàn bộ sự kiện diễn ra trong quá tình hoạt động</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7813739" y="3320756"/>
            <a:ext cx="9852260" cy="2040202"/>
          </a:xfrm>
          <a:custGeom>
            <a:avLst/>
            <a:gdLst/>
            <a:ahLst/>
            <a:cxnLst/>
            <a:rect r="r" b="b" t="t" l="l"/>
            <a:pathLst>
              <a:path h="2040202" w="9852260">
                <a:moveTo>
                  <a:pt x="0" y="0"/>
                </a:moveTo>
                <a:lnTo>
                  <a:pt x="9852260" y="0"/>
                </a:lnTo>
                <a:lnTo>
                  <a:pt x="9852260" y="2040202"/>
                </a:lnTo>
                <a:lnTo>
                  <a:pt x="0" y="2040202"/>
                </a:lnTo>
                <a:lnTo>
                  <a:pt x="0" y="0"/>
                </a:lnTo>
                <a:close/>
              </a:path>
            </a:pathLst>
          </a:custGeom>
          <a:blipFill>
            <a:blip r:embed="rId3"/>
            <a:stretch>
              <a:fillRect l="0" t="0" r="0" b="0"/>
            </a:stretch>
          </a:blipFill>
        </p:spPr>
      </p:sp>
      <p:sp>
        <p:nvSpPr>
          <p:cNvPr name="Freeform 4" id="4"/>
          <p:cNvSpPr/>
          <p:nvPr/>
        </p:nvSpPr>
        <p:spPr>
          <a:xfrm flipH="false" flipV="false" rot="0">
            <a:off x="7222069" y="5919851"/>
            <a:ext cx="10874568" cy="2594760"/>
          </a:xfrm>
          <a:custGeom>
            <a:avLst/>
            <a:gdLst/>
            <a:ahLst/>
            <a:cxnLst/>
            <a:rect r="r" b="b" t="t" l="l"/>
            <a:pathLst>
              <a:path h="2594760" w="10874568">
                <a:moveTo>
                  <a:pt x="0" y="0"/>
                </a:moveTo>
                <a:lnTo>
                  <a:pt x="10874568" y="0"/>
                </a:lnTo>
                <a:lnTo>
                  <a:pt x="10874568" y="2594761"/>
                </a:lnTo>
                <a:lnTo>
                  <a:pt x="0" y="2594761"/>
                </a:lnTo>
                <a:lnTo>
                  <a:pt x="0" y="0"/>
                </a:lnTo>
                <a:close/>
              </a:path>
            </a:pathLst>
          </a:custGeom>
          <a:blipFill>
            <a:blip r:embed="rId4"/>
            <a:stretch>
              <a:fillRect l="0" t="0" r="0" b="0"/>
            </a:stretch>
          </a:blipFill>
        </p:spPr>
      </p:sp>
      <p:sp>
        <p:nvSpPr>
          <p:cNvPr name="TextBox 5" id="5"/>
          <p:cNvSpPr txBox="true"/>
          <p:nvPr/>
        </p:nvSpPr>
        <p:spPr>
          <a:xfrm rot="0">
            <a:off x="5076108" y="1437114"/>
            <a:ext cx="729376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Data Binding trong WPF</a:t>
            </a:r>
          </a:p>
        </p:txBody>
      </p:sp>
      <p:sp>
        <p:nvSpPr>
          <p:cNvPr name="TextBox 6" id="6"/>
          <p:cNvSpPr txBox="true"/>
          <p:nvPr/>
        </p:nvSpPr>
        <p:spPr>
          <a:xfrm rot="0">
            <a:off x="1197147" y="3030601"/>
            <a:ext cx="6024921" cy="26130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DataGrid sử dụng </a:t>
            </a:r>
            <a:r>
              <a:rPr lang="en-US" b="true" sz="2499">
                <a:solidFill>
                  <a:srgbClr val="000000"/>
                </a:solidFill>
                <a:latin typeface="Noto Sans Bold"/>
                <a:ea typeface="Noto Sans Bold"/>
                <a:cs typeface="Noto Sans Bold"/>
                <a:sym typeface="Noto Sans Bold"/>
              </a:rPr>
              <a:t>Data Binding </a:t>
            </a:r>
            <a:r>
              <a:rPr lang="en-US" sz="2499">
                <a:solidFill>
                  <a:srgbClr val="000000"/>
                </a:solidFill>
                <a:latin typeface="Noto Sans"/>
                <a:ea typeface="Noto Sans"/>
                <a:cs typeface="Noto Sans"/>
                <a:sym typeface="Noto Sans"/>
              </a:rPr>
              <a:t>để liên kết các cột trên giao diện với thuộc tính của đối tượng dữ liệu. Khi dữ liệu thay đổi, các giá trị tương ứng sẽ được hiển thị trên từng cột, giúp giao diện luôn đồng bộ với dữ liệu của chương trình.</a:t>
            </a:r>
          </a:p>
        </p:txBody>
      </p:sp>
      <p:sp>
        <p:nvSpPr>
          <p:cNvPr name="TextBox 7" id="7"/>
          <p:cNvSpPr txBox="true"/>
          <p:nvPr/>
        </p:nvSpPr>
        <p:spPr>
          <a:xfrm rot="0">
            <a:off x="1707138" y="2380860"/>
            <a:ext cx="2944535"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Cơ chế hoạt động: </a:t>
            </a:r>
          </a:p>
        </p:txBody>
      </p:sp>
      <p:sp>
        <p:nvSpPr>
          <p:cNvPr name="TextBox 8" id="8"/>
          <p:cNvSpPr txBox="true"/>
          <p:nvPr/>
        </p:nvSpPr>
        <p:spPr>
          <a:xfrm rot="0">
            <a:off x="1028700" y="6427851"/>
            <a:ext cx="5977074" cy="2174875"/>
          </a:xfrm>
          <a:prstGeom prst="rect">
            <a:avLst/>
          </a:prstGeom>
        </p:spPr>
        <p:txBody>
          <a:bodyPr anchor="t" rtlCol="false" tIns="0" lIns="0" bIns="0" rIns="0">
            <a:spAutoFit/>
          </a:bodyPr>
          <a:lstStyle/>
          <a:p>
            <a:pPr algn="l" marL="539749" indent="-269875" lvl="1">
              <a:lnSpc>
                <a:spcPts val="3499"/>
              </a:lnSpc>
              <a:buFont typeface="Arial"/>
              <a:buChar char="•"/>
            </a:pPr>
            <a:r>
              <a:rPr lang="en-US" sz="2499">
                <a:solidFill>
                  <a:srgbClr val="000000"/>
                </a:solidFill>
                <a:latin typeface="Noto Sans"/>
                <a:ea typeface="Noto Sans"/>
                <a:cs typeface="Noto Sans"/>
                <a:sym typeface="Noto Sans"/>
              </a:rPr>
              <a:t>FileIcon: Hiển thị loại tệp</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FileName: Tên tệp được nhận</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Size: Dung lượng tệp</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Status: Trạng thái upload</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PercentText: Tiến độ truyền dữ liệu</a:t>
            </a:r>
          </a:p>
        </p:txBody>
      </p:sp>
      <p:sp>
        <p:nvSpPr>
          <p:cNvPr name="TextBox 9" id="9"/>
          <p:cNvSpPr txBox="true"/>
          <p:nvPr/>
        </p:nvSpPr>
        <p:spPr>
          <a:xfrm rot="0">
            <a:off x="1707138" y="5873360"/>
            <a:ext cx="3597593"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Các thuộc tính Binding</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6042122" y="1437114"/>
            <a:ext cx="536174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Thiết kế DataGrid</a:t>
            </a:r>
          </a:p>
        </p:txBody>
      </p:sp>
      <p:sp>
        <p:nvSpPr>
          <p:cNvPr name="TextBox 4" id="4"/>
          <p:cNvSpPr txBox="true"/>
          <p:nvPr/>
        </p:nvSpPr>
        <p:spPr>
          <a:xfrm rot="0">
            <a:off x="1709704" y="2576582"/>
            <a:ext cx="1798320"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Chức năng:</a:t>
            </a:r>
          </a:p>
        </p:txBody>
      </p:sp>
      <p:sp>
        <p:nvSpPr>
          <p:cNvPr name="TextBox 5" id="5"/>
          <p:cNvSpPr txBox="true"/>
          <p:nvPr/>
        </p:nvSpPr>
        <p:spPr>
          <a:xfrm rot="0">
            <a:off x="1220097" y="3030601"/>
            <a:ext cx="5689992" cy="8604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Server sử dụng DataGrid để hiển thị danh sách file đã nhận</a:t>
            </a:r>
          </a:p>
        </p:txBody>
      </p:sp>
      <p:sp>
        <p:nvSpPr>
          <p:cNvPr name="TextBox 6" id="6"/>
          <p:cNvSpPr txBox="true"/>
          <p:nvPr/>
        </p:nvSpPr>
        <p:spPr>
          <a:xfrm rot="0">
            <a:off x="1220097" y="4032250"/>
            <a:ext cx="5689992" cy="2174875"/>
          </a:xfrm>
          <a:prstGeom prst="rect">
            <a:avLst/>
          </a:prstGeom>
        </p:spPr>
        <p:txBody>
          <a:bodyPr anchor="t" rtlCol="false" tIns="0" lIns="0" bIns="0" rIns="0">
            <a:spAutoFit/>
          </a:bodyPr>
          <a:lstStyle/>
          <a:p>
            <a:pPr algn="just">
              <a:lnSpc>
                <a:spcPts val="3499"/>
              </a:lnSpc>
            </a:pPr>
            <a:r>
              <a:rPr lang="en-US" sz="2499">
                <a:solidFill>
                  <a:srgbClr val="000000"/>
                </a:solidFill>
                <a:latin typeface="Noto Sans"/>
                <a:ea typeface="Noto Sans"/>
                <a:cs typeface="Noto Sans"/>
                <a:sym typeface="Noto Sans"/>
              </a:rPr>
              <a:t>Mỗi dòng dữ liệu bao gồm:</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Tên file</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Kích thước</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Trạng thái</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Tiến độ Upload</a:t>
            </a:r>
          </a:p>
        </p:txBody>
      </p:sp>
      <p:sp>
        <p:nvSpPr>
          <p:cNvPr name="TextBox 7" id="7"/>
          <p:cNvSpPr txBox="true"/>
          <p:nvPr/>
        </p:nvSpPr>
        <p:spPr>
          <a:xfrm rot="0">
            <a:off x="1921754" y="6580661"/>
            <a:ext cx="1374219"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Ưu điểm</a:t>
            </a:r>
          </a:p>
        </p:txBody>
      </p:sp>
      <p:sp>
        <p:nvSpPr>
          <p:cNvPr name="TextBox 8" id="8"/>
          <p:cNvSpPr txBox="true"/>
          <p:nvPr/>
        </p:nvSpPr>
        <p:spPr>
          <a:xfrm rot="0">
            <a:off x="1220097" y="7145811"/>
            <a:ext cx="5689992" cy="17367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DataGrid hỗ trợ hiển thị dữ liệu dạng bảng, giúp người quản trị dễ dàng theo dõi nhiều file cùng lúc và quan sát trạng thái của từng file</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8394210" y="2998857"/>
            <a:ext cx="7289060" cy="5281194"/>
          </a:xfrm>
          <a:custGeom>
            <a:avLst/>
            <a:gdLst/>
            <a:ahLst/>
            <a:cxnLst/>
            <a:rect r="r" b="b" t="t" l="l"/>
            <a:pathLst>
              <a:path h="5281194" w="7289060">
                <a:moveTo>
                  <a:pt x="0" y="0"/>
                </a:moveTo>
                <a:lnTo>
                  <a:pt x="7289060" y="0"/>
                </a:lnTo>
                <a:lnTo>
                  <a:pt x="7289060" y="5281194"/>
                </a:lnTo>
                <a:lnTo>
                  <a:pt x="0" y="5281194"/>
                </a:lnTo>
                <a:lnTo>
                  <a:pt x="0" y="0"/>
                </a:lnTo>
                <a:close/>
              </a:path>
            </a:pathLst>
          </a:custGeom>
          <a:blipFill>
            <a:blip r:embed="rId3"/>
            <a:stretch>
              <a:fillRect l="0" t="0" r="0" b="0"/>
            </a:stretch>
          </a:blipFill>
        </p:spPr>
      </p:sp>
      <p:sp>
        <p:nvSpPr>
          <p:cNvPr name="TextBox 4" id="4"/>
          <p:cNvSpPr txBox="true"/>
          <p:nvPr/>
        </p:nvSpPr>
        <p:spPr>
          <a:xfrm rot="0">
            <a:off x="3790233" y="1437114"/>
            <a:ext cx="986551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Nhật ký hoạt động (Activity Log)</a:t>
            </a:r>
          </a:p>
        </p:txBody>
      </p:sp>
      <p:sp>
        <p:nvSpPr>
          <p:cNvPr name="TextBox 5" id="5"/>
          <p:cNvSpPr txBox="true"/>
          <p:nvPr/>
        </p:nvSpPr>
        <p:spPr>
          <a:xfrm rot="0">
            <a:off x="2555529" y="3219408"/>
            <a:ext cx="1798320"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Chức năng:</a:t>
            </a:r>
          </a:p>
        </p:txBody>
      </p:sp>
      <p:sp>
        <p:nvSpPr>
          <p:cNvPr name="TextBox 6" id="6"/>
          <p:cNvSpPr txBox="true"/>
          <p:nvPr/>
        </p:nvSpPr>
        <p:spPr>
          <a:xfrm rot="0">
            <a:off x="2065922" y="3673428"/>
            <a:ext cx="5689992" cy="8604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Activity Log lưu lại toàn bộ sự kiện xảy ra trong quá trình Server hoạt động</a:t>
            </a:r>
          </a:p>
        </p:txBody>
      </p:sp>
      <p:sp>
        <p:nvSpPr>
          <p:cNvPr name="TextBox 7" id="7"/>
          <p:cNvSpPr txBox="true"/>
          <p:nvPr/>
        </p:nvSpPr>
        <p:spPr>
          <a:xfrm rot="0">
            <a:off x="2065922" y="4857703"/>
            <a:ext cx="5689992" cy="2613025"/>
          </a:xfrm>
          <a:prstGeom prst="rect">
            <a:avLst/>
          </a:prstGeom>
        </p:spPr>
        <p:txBody>
          <a:bodyPr anchor="t" rtlCol="false" tIns="0" lIns="0" bIns="0" rIns="0">
            <a:spAutoFit/>
          </a:bodyPr>
          <a:lstStyle/>
          <a:p>
            <a:pPr algn="just">
              <a:lnSpc>
                <a:spcPts val="3499"/>
              </a:lnSpc>
            </a:pPr>
            <a:r>
              <a:rPr lang="en-US" sz="2499">
                <a:solidFill>
                  <a:srgbClr val="000000"/>
                </a:solidFill>
                <a:latin typeface="Noto Sans"/>
                <a:ea typeface="Noto Sans"/>
                <a:cs typeface="Noto Sans"/>
                <a:sym typeface="Noto Sans"/>
              </a:rPr>
              <a:t>Bao gồm:</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Khởi động Server</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Client kết nối hoặc ngắt kết nôi</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Nhận file</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Upload thành công</a:t>
            </a:r>
          </a:p>
          <a:p>
            <a:pPr algn="l" marL="539749" indent="-269875" lvl="1">
              <a:lnSpc>
                <a:spcPts val="3499"/>
              </a:lnSpc>
              <a:buFont typeface="Arial"/>
              <a:buChar char="•"/>
            </a:pPr>
            <a:r>
              <a:rPr lang="en-US" sz="2499">
                <a:solidFill>
                  <a:srgbClr val="000000"/>
                </a:solidFill>
                <a:latin typeface="Noto Sans"/>
                <a:ea typeface="Noto Sans"/>
                <a:cs typeface="Noto Sans"/>
                <a:sym typeface="Noto Sans"/>
              </a:rPr>
              <a:t>Thông báo lỗi</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0375850" y="2033364"/>
            <a:ext cx="3197744" cy="8253636"/>
          </a:xfrm>
          <a:custGeom>
            <a:avLst/>
            <a:gdLst/>
            <a:ahLst/>
            <a:cxnLst/>
            <a:rect r="r" b="b" t="t" l="l"/>
            <a:pathLst>
              <a:path h="8253636" w="3197744">
                <a:moveTo>
                  <a:pt x="0" y="0"/>
                </a:moveTo>
                <a:lnTo>
                  <a:pt x="3197744" y="0"/>
                </a:lnTo>
                <a:lnTo>
                  <a:pt x="3197744" y="8253636"/>
                </a:lnTo>
                <a:lnTo>
                  <a:pt x="0" y="8253636"/>
                </a:lnTo>
                <a:lnTo>
                  <a:pt x="0" y="0"/>
                </a:lnTo>
                <a:close/>
              </a:path>
            </a:pathLst>
          </a:custGeom>
          <a:blipFill>
            <a:blip r:embed="rId3"/>
            <a:stretch>
              <a:fillRect l="0" t="0" r="0" b="0"/>
            </a:stretch>
          </a:blipFill>
        </p:spPr>
      </p:sp>
      <p:sp>
        <p:nvSpPr>
          <p:cNvPr name="TextBox 4" id="4"/>
          <p:cNvSpPr txBox="true"/>
          <p:nvPr/>
        </p:nvSpPr>
        <p:spPr>
          <a:xfrm rot="0">
            <a:off x="2963939" y="1221834"/>
            <a:ext cx="11518106"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Luồng hoạt động của giao diện Server</a:t>
            </a:r>
          </a:p>
        </p:txBody>
      </p:sp>
      <p:sp>
        <p:nvSpPr>
          <p:cNvPr name="TextBox 5" id="5"/>
          <p:cNvSpPr txBox="true"/>
          <p:nvPr/>
        </p:nvSpPr>
        <p:spPr>
          <a:xfrm rot="0">
            <a:off x="3319029" y="2597398"/>
            <a:ext cx="1611035"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Quy trình:</a:t>
            </a:r>
          </a:p>
        </p:txBody>
      </p:sp>
      <p:sp>
        <p:nvSpPr>
          <p:cNvPr name="TextBox 6" id="6"/>
          <p:cNvSpPr txBox="true"/>
          <p:nvPr/>
        </p:nvSpPr>
        <p:spPr>
          <a:xfrm rot="0">
            <a:off x="3485597" y="5228070"/>
            <a:ext cx="1277898" cy="422275"/>
          </a:xfrm>
          <a:prstGeom prst="rect">
            <a:avLst/>
          </a:prstGeom>
        </p:spPr>
        <p:txBody>
          <a:bodyPr anchor="t" rtlCol="false" tIns="0" lIns="0" bIns="0" rIns="0">
            <a:spAutoFit/>
          </a:bodyPr>
          <a:lstStyle/>
          <a:p>
            <a:pPr algn="ctr">
              <a:lnSpc>
                <a:spcPts val="3499"/>
              </a:lnSpc>
              <a:spcBef>
                <a:spcPct val="0"/>
              </a:spcBef>
            </a:pPr>
            <a:r>
              <a:rPr lang="en-US" b="true" sz="2499">
                <a:solidFill>
                  <a:srgbClr val="000000"/>
                </a:solidFill>
                <a:latin typeface="Noto Sans Bold"/>
                <a:ea typeface="Noto Sans Bold"/>
                <a:cs typeface="Noto Sans Bold"/>
                <a:sym typeface="Noto Sans Bold"/>
              </a:rPr>
              <a:t>Ý nghĩa:</a:t>
            </a:r>
          </a:p>
        </p:txBody>
      </p:sp>
      <p:sp>
        <p:nvSpPr>
          <p:cNvPr name="TextBox 7" id="7"/>
          <p:cNvSpPr txBox="true"/>
          <p:nvPr/>
        </p:nvSpPr>
        <p:spPr>
          <a:xfrm rot="0">
            <a:off x="2711856" y="3253220"/>
            <a:ext cx="5689992" cy="173672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Giao diện Server không trực tiếp xử lý việc, truyền dữ liệu mà đóng vai trò hiển thị trạng thái hoạt động của hệ thống. Mọi </a:t>
            </a:r>
          </a:p>
        </p:txBody>
      </p:sp>
      <p:sp>
        <p:nvSpPr>
          <p:cNvPr name="TextBox 8" id="8"/>
          <p:cNvSpPr txBox="true"/>
          <p:nvPr/>
        </p:nvSpPr>
        <p:spPr>
          <a:xfrm rot="0">
            <a:off x="2529327" y="5888471"/>
            <a:ext cx="6863523" cy="3051175"/>
          </a:xfrm>
          <a:prstGeom prst="rect">
            <a:avLst/>
          </a:prstGeom>
        </p:spPr>
        <p:txBody>
          <a:bodyPr anchor="t" rtlCol="false" tIns="0" lIns="0" bIns="0" rIns="0">
            <a:spAutoFit/>
          </a:bodyPr>
          <a:lstStyle/>
          <a:p>
            <a:pPr algn="just">
              <a:lnSpc>
                <a:spcPts val="3499"/>
              </a:lnSpc>
              <a:spcBef>
                <a:spcPct val="0"/>
              </a:spcBef>
            </a:pPr>
            <a:r>
              <a:rPr lang="en-US" sz="2499">
                <a:solidFill>
                  <a:srgbClr val="000000"/>
                </a:solidFill>
                <a:latin typeface="Noto Sans"/>
                <a:ea typeface="Noto Sans"/>
                <a:cs typeface="Noto Sans"/>
                <a:sym typeface="Noto Sans"/>
              </a:rPr>
              <a:t>Giao diện Server không trực tiếp xử lý việc truyền dữ liệu mà đóng vai trò hiển thị trạng thái hoạt động của hệ thống. Mọi thay đổi từ quá trình kết nối và nhận file đều được cập nhật lên giao diện theo thời gian thực, giúp người quản trị dễ dàng theo dõi và kiểm soát toàn bộ hệ thống</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61082" y="1458312"/>
            <a:ext cx="9984091" cy="2524195"/>
          </a:xfrm>
          <a:custGeom>
            <a:avLst/>
            <a:gdLst/>
            <a:ahLst/>
            <a:cxnLst/>
            <a:rect r="r" b="b" t="t" l="l"/>
            <a:pathLst>
              <a:path h="2524195" w="9984091">
                <a:moveTo>
                  <a:pt x="0" y="0"/>
                </a:moveTo>
                <a:lnTo>
                  <a:pt x="9984092" y="0"/>
                </a:lnTo>
                <a:lnTo>
                  <a:pt x="9984092" y="2524195"/>
                </a:lnTo>
                <a:lnTo>
                  <a:pt x="0" y="2524195"/>
                </a:lnTo>
                <a:lnTo>
                  <a:pt x="0" y="0"/>
                </a:lnTo>
                <a:close/>
              </a:path>
            </a:pathLst>
          </a:custGeom>
          <a:blipFill>
            <a:blip r:embed="rId3"/>
            <a:stretch>
              <a:fillRect l="0" t="0" r="0" b="0"/>
            </a:stretch>
          </a:blipFill>
        </p:spPr>
      </p:sp>
      <p:sp>
        <p:nvSpPr>
          <p:cNvPr name="TextBox 4" id="4"/>
          <p:cNvSpPr txBox="true"/>
          <p:nvPr/>
        </p:nvSpPr>
        <p:spPr>
          <a:xfrm rot="0">
            <a:off x="6679859" y="376897"/>
            <a:ext cx="6930628"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Xử lý khởi động Server</a:t>
            </a:r>
          </a:p>
        </p:txBody>
      </p:sp>
      <p:sp>
        <p:nvSpPr>
          <p:cNvPr name="TextBox 5" id="5"/>
          <p:cNvSpPr txBox="true"/>
          <p:nvPr/>
        </p:nvSpPr>
        <p:spPr>
          <a:xfrm rot="0">
            <a:off x="161082" y="3925357"/>
            <a:ext cx="10843856" cy="4471670"/>
          </a:xfrm>
          <a:prstGeom prst="rect">
            <a:avLst/>
          </a:prstGeom>
        </p:spPr>
        <p:txBody>
          <a:bodyPr anchor="t" rtlCol="false" tIns="0" lIns="0" bIns="0" rIns="0">
            <a:spAutoFit/>
          </a:bodyPr>
          <a:lstStyle/>
          <a:p>
            <a:pPr algn="l">
              <a:lnSpc>
                <a:spcPts val="4480"/>
              </a:lnSpc>
            </a:pPr>
            <a:r>
              <a:rPr lang="en-US" sz="3200">
                <a:solidFill>
                  <a:srgbClr val="000000"/>
                </a:solidFill>
                <a:latin typeface="Noto Sans"/>
                <a:ea typeface="Noto Sans"/>
                <a:cs typeface="Noto Sans"/>
                <a:sym typeface="Noto Sans"/>
              </a:rPr>
              <a:t>Hàm btnStart_Cl</a:t>
            </a:r>
            <a:r>
              <a:rPr lang="en-US" sz="3200">
                <a:solidFill>
                  <a:srgbClr val="000000"/>
                </a:solidFill>
                <a:latin typeface="Noto Sans"/>
                <a:ea typeface="Noto Sans"/>
                <a:cs typeface="Noto Sans"/>
                <a:sym typeface="Noto Sans"/>
              </a:rPr>
              <a:t>ick()</a:t>
            </a:r>
          </a:p>
          <a:p>
            <a:pPr algn="l">
              <a:lnSpc>
                <a:spcPts val="4480"/>
              </a:lnSpc>
            </a:pPr>
            <a:r>
              <a:rPr lang="en-US" sz="3200">
                <a:solidFill>
                  <a:srgbClr val="000000"/>
                </a:solidFill>
                <a:latin typeface="Noto Sans"/>
                <a:ea typeface="Noto Sans"/>
                <a:cs typeface="Noto Sans"/>
                <a:sym typeface="Noto Sans"/>
              </a:rPr>
              <a:t>Chức năng:</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Đọc cấu hình Port.</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Khởi tạo TcpListener.</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Khởi động Server.</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Cập nhật địa chỉ IP và Port.</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Gọi AcceptClientsAsync() để bắt đầu lắng nghe Client.</a:t>
            </a:r>
          </a:p>
          <a:p>
            <a:pPr algn="l">
              <a:lnSpc>
                <a:spcPts val="4480"/>
              </a:lnSpc>
            </a:pPr>
          </a:p>
        </p:txBody>
      </p:sp>
      <p:sp>
        <p:nvSpPr>
          <p:cNvPr name="TextBox 6" id="6"/>
          <p:cNvSpPr txBox="true"/>
          <p:nvPr/>
        </p:nvSpPr>
        <p:spPr>
          <a:xfrm rot="0">
            <a:off x="10397261" y="1401162"/>
            <a:ext cx="7604374" cy="278574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Đây là hàm được gọi khi ngườ</a:t>
            </a:r>
            <a:r>
              <a:rPr lang="en-US" sz="3200">
                <a:solidFill>
                  <a:srgbClr val="000000"/>
                </a:solidFill>
                <a:latin typeface="Noto Sans"/>
                <a:ea typeface="Noto Sans"/>
                <a:cs typeface="Noto Sans"/>
                <a:sym typeface="Noto Sans"/>
              </a:rPr>
              <a:t>i dùng nhấn nút Start. Server sẽ tạo đối tượng TcpListener, mở cổng lắng nghe và sau đó gọi hàm AcceptClientsAsync() để liên tục chờ Client kết nối.</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98990" y="1465537"/>
            <a:ext cx="9695568" cy="2641914"/>
          </a:xfrm>
          <a:custGeom>
            <a:avLst/>
            <a:gdLst/>
            <a:ahLst/>
            <a:cxnLst/>
            <a:rect r="r" b="b" t="t" l="l"/>
            <a:pathLst>
              <a:path h="2641914" w="9695568">
                <a:moveTo>
                  <a:pt x="0" y="0"/>
                </a:moveTo>
                <a:lnTo>
                  <a:pt x="9695569" y="0"/>
                </a:lnTo>
                <a:lnTo>
                  <a:pt x="9695569" y="2641914"/>
                </a:lnTo>
                <a:lnTo>
                  <a:pt x="0" y="2641914"/>
                </a:lnTo>
                <a:lnTo>
                  <a:pt x="0" y="0"/>
                </a:lnTo>
                <a:close/>
              </a:path>
            </a:pathLst>
          </a:custGeom>
          <a:blipFill>
            <a:blip r:embed="rId3"/>
            <a:stretch>
              <a:fillRect l="0" t="0" r="0" b="0"/>
            </a:stretch>
          </a:blipFill>
        </p:spPr>
      </p:sp>
      <p:sp>
        <p:nvSpPr>
          <p:cNvPr name="TextBox 4" id="4"/>
          <p:cNvSpPr txBox="true"/>
          <p:nvPr/>
        </p:nvSpPr>
        <p:spPr>
          <a:xfrm rot="0">
            <a:off x="7215821" y="377366"/>
            <a:ext cx="495776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T</a:t>
            </a:r>
            <a:r>
              <a:rPr lang="en-US" b="true" sz="4800">
                <a:solidFill>
                  <a:srgbClr val="000000"/>
                </a:solidFill>
                <a:latin typeface="Noto Sans Bold"/>
                <a:ea typeface="Noto Sans Bold"/>
                <a:cs typeface="Noto Sans Bold"/>
                <a:sym typeface="Noto Sans Bold"/>
              </a:rPr>
              <a:t>iếp nhận Client</a:t>
            </a:r>
          </a:p>
        </p:txBody>
      </p:sp>
      <p:sp>
        <p:nvSpPr>
          <p:cNvPr name="TextBox 5" id="5"/>
          <p:cNvSpPr txBox="true"/>
          <p:nvPr/>
        </p:nvSpPr>
        <p:spPr>
          <a:xfrm rot="0">
            <a:off x="198990" y="4050301"/>
            <a:ext cx="9695568" cy="334772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 AcceptCl</a:t>
            </a:r>
            <a:r>
              <a:rPr lang="en-US" sz="3200">
                <a:solidFill>
                  <a:srgbClr val="000000"/>
                </a:solidFill>
                <a:latin typeface="Noto Sans"/>
                <a:ea typeface="Noto Sans"/>
                <a:cs typeface="Noto Sans"/>
                <a:sym typeface="Noto Sans"/>
              </a:rPr>
              <a:t>ientsAsync()</a:t>
            </a:r>
          </a:p>
          <a:p>
            <a:pPr algn="l">
              <a:lnSpc>
                <a:spcPts val="4480"/>
              </a:lnSpc>
              <a:spcBef>
                <a:spcPct val="0"/>
              </a:spcBef>
            </a:pPr>
            <a:r>
              <a:rPr lang="en-US" sz="3200">
                <a:solidFill>
                  <a:srgbClr val="000000"/>
                </a:solidFill>
                <a:latin typeface="Noto Sans"/>
                <a:ea typeface="Noto Sans"/>
                <a:cs typeface="Noto Sans"/>
                <a:sym typeface="Noto Sans"/>
              </a:rPr>
              <a:t>Chức năng</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Luôn lắng nghe Client.</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Chấp nhận nhiều Client.</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Mỗi Client được xử lý trên một Task riêng</a:t>
            </a:r>
          </a:p>
          <a:p>
            <a:pPr algn="l">
              <a:lnSpc>
                <a:spcPts val="4480"/>
              </a:lnSpc>
              <a:spcBef>
                <a:spcPct val="0"/>
              </a:spcBef>
            </a:pPr>
          </a:p>
        </p:txBody>
      </p:sp>
      <p:sp>
        <p:nvSpPr>
          <p:cNvPr name="TextBox 6" id="6"/>
          <p:cNvSpPr txBox="true"/>
          <p:nvPr/>
        </p:nvSpPr>
        <p:spPr>
          <a:xfrm rot="0">
            <a:off x="9894559" y="1408387"/>
            <a:ext cx="7985472" cy="278574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Sau kh</a:t>
            </a:r>
            <a:r>
              <a:rPr lang="en-US" sz="3200">
                <a:solidFill>
                  <a:srgbClr val="000000"/>
                </a:solidFill>
                <a:latin typeface="Noto Sans"/>
                <a:ea typeface="Noto Sans"/>
                <a:cs typeface="Noto Sans"/>
                <a:sym typeface="Noto Sans"/>
              </a:rPr>
              <a:t>i Server khởi động, hàm này sẽ luôn chạy trong vòng lặp. Mỗi khi có Client kết nối, Server tạo một Task mới để xử lý, giúp nhiều Client có thể upload cùng lúc</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0" y="1309193"/>
            <a:ext cx="3531580" cy="8909213"/>
          </a:xfrm>
          <a:custGeom>
            <a:avLst/>
            <a:gdLst/>
            <a:ahLst/>
            <a:cxnLst/>
            <a:rect r="r" b="b" t="t" l="l"/>
            <a:pathLst>
              <a:path h="8909213" w="3531580">
                <a:moveTo>
                  <a:pt x="0" y="0"/>
                </a:moveTo>
                <a:lnTo>
                  <a:pt x="3531580" y="0"/>
                </a:lnTo>
                <a:lnTo>
                  <a:pt x="3531580" y="8909212"/>
                </a:lnTo>
                <a:lnTo>
                  <a:pt x="0" y="8909212"/>
                </a:lnTo>
                <a:lnTo>
                  <a:pt x="0" y="0"/>
                </a:lnTo>
                <a:close/>
              </a:path>
            </a:pathLst>
          </a:custGeom>
          <a:blipFill>
            <a:blip r:embed="rId3"/>
            <a:stretch>
              <a:fillRect l="0" t="0" r="0" b="0"/>
            </a:stretch>
          </a:blipFill>
        </p:spPr>
      </p:sp>
      <p:sp>
        <p:nvSpPr>
          <p:cNvPr name="TextBox 4" id="4"/>
          <p:cNvSpPr txBox="true"/>
          <p:nvPr/>
        </p:nvSpPr>
        <p:spPr>
          <a:xfrm rot="0">
            <a:off x="6931100" y="355338"/>
            <a:ext cx="6011823"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Xử</a:t>
            </a:r>
            <a:r>
              <a:rPr lang="en-US" b="true" sz="4800">
                <a:solidFill>
                  <a:srgbClr val="000000"/>
                </a:solidFill>
                <a:latin typeface="Noto Sans Bold"/>
                <a:ea typeface="Noto Sans Bold"/>
                <a:cs typeface="Noto Sans Bold"/>
                <a:sym typeface="Noto Sans Bold"/>
              </a:rPr>
              <a:t> lý yêu cầu Client</a:t>
            </a:r>
          </a:p>
        </p:txBody>
      </p:sp>
      <p:sp>
        <p:nvSpPr>
          <p:cNvPr name="TextBox 5" id="5"/>
          <p:cNvSpPr txBox="true"/>
          <p:nvPr/>
        </p:nvSpPr>
        <p:spPr>
          <a:xfrm rot="0">
            <a:off x="5913241" y="1802745"/>
            <a:ext cx="9941957" cy="222377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 HandleCl</a:t>
            </a:r>
            <a:r>
              <a:rPr lang="en-US" sz="3200">
                <a:solidFill>
                  <a:srgbClr val="000000"/>
                </a:solidFill>
                <a:latin typeface="Noto Sans"/>
                <a:ea typeface="Noto Sans"/>
                <a:cs typeface="Noto Sans"/>
                <a:sym typeface="Noto Sans"/>
              </a:rPr>
              <a:t>ientAsync()</a:t>
            </a:r>
          </a:p>
          <a:p>
            <a:pPr algn="l">
              <a:lnSpc>
                <a:spcPts val="4480"/>
              </a:lnSpc>
              <a:spcBef>
                <a:spcPct val="0"/>
              </a:spcBef>
            </a:pPr>
            <a:r>
              <a:rPr lang="en-US" sz="3200">
                <a:solidFill>
                  <a:srgbClr val="000000"/>
                </a:solidFill>
                <a:latin typeface="Noto Sans"/>
                <a:ea typeface="Noto Sans"/>
                <a:cs typeface="Noto Sans"/>
                <a:sym typeface="Noto Sans"/>
              </a:rPr>
              <a:t>Chức năng</a:t>
            </a:r>
          </a:p>
          <a:p>
            <a:pPr algn="l">
              <a:lnSpc>
                <a:spcPts val="4480"/>
              </a:lnSpc>
              <a:spcBef>
                <a:spcPct val="0"/>
              </a:spcBef>
            </a:pPr>
            <a:r>
              <a:rPr lang="en-US" sz="3200">
                <a:solidFill>
                  <a:srgbClr val="000000"/>
                </a:solidFill>
                <a:latin typeface="Noto Sans"/>
                <a:ea typeface="Noto Sans"/>
                <a:cs typeface="Noto Sans"/>
                <a:sym typeface="Noto Sans"/>
              </a:rPr>
              <a:t>Đọc 4 byte đầu tiên để xác định Client gửi yêu cầu gì</a:t>
            </a:r>
          </a:p>
          <a:p>
            <a:pPr algn="l">
              <a:lnSpc>
                <a:spcPts val="4480"/>
              </a:lnSpc>
              <a:spcBef>
                <a:spcPct val="0"/>
              </a:spcBef>
            </a:pPr>
          </a:p>
        </p:txBody>
      </p:sp>
      <p:sp>
        <p:nvSpPr>
          <p:cNvPr name="TextBox 6" id="6"/>
          <p:cNvSpPr txBox="true"/>
          <p:nvPr/>
        </p:nvSpPr>
        <p:spPr>
          <a:xfrm rot="0">
            <a:off x="5913241" y="5907837"/>
            <a:ext cx="11018729" cy="166179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Đây là</a:t>
            </a:r>
            <a:r>
              <a:rPr lang="en-US" sz="3200">
                <a:solidFill>
                  <a:srgbClr val="000000"/>
                </a:solidFill>
                <a:latin typeface="Noto Sans"/>
                <a:ea typeface="Noto Sans"/>
                <a:cs typeface="Noto Sans"/>
                <a:sym typeface="Noto Sans"/>
              </a:rPr>
              <a:t> trung tâm xử lý của Server. Sau khi Client kết nối, Server sẽ đọc mã lệnh đầu tiên và gọi đúng hàm tương ứng</a:t>
            </a:r>
          </a:p>
        </p:txBody>
      </p:sp>
      <p:sp>
        <p:nvSpPr>
          <p:cNvPr name="TextBox 7" id="7"/>
          <p:cNvSpPr txBox="true"/>
          <p:nvPr/>
        </p:nvSpPr>
        <p:spPr>
          <a:xfrm rot="0">
            <a:off x="4373855" y="2405360"/>
            <a:ext cx="697111"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=&gt;&gt;</a:t>
            </a:r>
          </a:p>
        </p:txBody>
      </p:sp>
      <p:sp>
        <p:nvSpPr>
          <p:cNvPr name="TextBox 8" id="8"/>
          <p:cNvSpPr txBox="true"/>
          <p:nvPr/>
        </p:nvSpPr>
        <p:spPr>
          <a:xfrm rot="0">
            <a:off x="4373855" y="6229465"/>
            <a:ext cx="697111"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=&gt;&gt;</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0" y="1520825"/>
            <a:ext cx="9200263" cy="3412461"/>
          </a:xfrm>
          <a:custGeom>
            <a:avLst/>
            <a:gdLst/>
            <a:ahLst/>
            <a:cxnLst/>
            <a:rect r="r" b="b" t="t" l="l"/>
            <a:pathLst>
              <a:path h="3412461" w="9200263">
                <a:moveTo>
                  <a:pt x="0" y="0"/>
                </a:moveTo>
                <a:lnTo>
                  <a:pt x="9200263" y="0"/>
                </a:lnTo>
                <a:lnTo>
                  <a:pt x="9200263" y="3412461"/>
                </a:lnTo>
                <a:lnTo>
                  <a:pt x="0" y="3412461"/>
                </a:lnTo>
                <a:lnTo>
                  <a:pt x="0" y="0"/>
                </a:lnTo>
                <a:close/>
              </a:path>
            </a:pathLst>
          </a:custGeom>
          <a:blipFill>
            <a:blip r:embed="rId3"/>
            <a:stretch>
              <a:fillRect l="0" t="0" r="0" b="0"/>
            </a:stretch>
          </a:blipFill>
        </p:spPr>
      </p:sp>
      <p:sp>
        <p:nvSpPr>
          <p:cNvPr name="TextBox 4" id="4"/>
          <p:cNvSpPr txBox="true"/>
          <p:nvPr/>
        </p:nvSpPr>
        <p:spPr>
          <a:xfrm rot="0">
            <a:off x="7426276" y="367752"/>
            <a:ext cx="488930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K</a:t>
            </a:r>
            <a:r>
              <a:rPr lang="en-US" b="true" sz="4800">
                <a:solidFill>
                  <a:srgbClr val="000000"/>
                </a:solidFill>
                <a:latin typeface="Noto Sans Bold"/>
                <a:ea typeface="Noto Sans Bold"/>
                <a:cs typeface="Noto Sans Bold"/>
                <a:sym typeface="Noto Sans Bold"/>
              </a:rPr>
              <a:t>iểm tra kết nối</a:t>
            </a:r>
          </a:p>
        </p:txBody>
      </p:sp>
      <p:sp>
        <p:nvSpPr>
          <p:cNvPr name="TextBox 5" id="5"/>
          <p:cNvSpPr txBox="true"/>
          <p:nvPr/>
        </p:nvSpPr>
        <p:spPr>
          <a:xfrm rot="0">
            <a:off x="550702" y="4876136"/>
            <a:ext cx="6094214" cy="278574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a:t>
            </a:r>
            <a:r>
              <a:rPr lang="en-US" sz="3200">
                <a:solidFill>
                  <a:srgbClr val="000000"/>
                </a:solidFill>
                <a:latin typeface="Noto Sans"/>
                <a:ea typeface="Noto Sans"/>
                <a:cs typeface="Noto Sans"/>
                <a:sym typeface="Noto Sans"/>
              </a:rPr>
              <a:t> HandlePingAsync()</a:t>
            </a:r>
          </a:p>
          <a:p>
            <a:pPr algn="l">
              <a:lnSpc>
                <a:spcPts val="4480"/>
              </a:lnSpc>
              <a:spcBef>
                <a:spcPct val="0"/>
              </a:spcBef>
            </a:pPr>
            <a:r>
              <a:rPr lang="en-US" sz="3200">
                <a:solidFill>
                  <a:srgbClr val="000000"/>
                </a:solidFill>
                <a:latin typeface="Noto Sans"/>
                <a:ea typeface="Noto Sans"/>
                <a:cs typeface="Noto Sans"/>
                <a:sym typeface="Noto Sans"/>
              </a:rPr>
              <a:t>Chức năng</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Cập nhật Client đang online.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Gửi lại chuỗi "pong"</a:t>
            </a:r>
          </a:p>
          <a:p>
            <a:pPr algn="l">
              <a:lnSpc>
                <a:spcPts val="4480"/>
              </a:lnSpc>
              <a:spcBef>
                <a:spcPct val="0"/>
              </a:spcBef>
            </a:pPr>
          </a:p>
        </p:txBody>
      </p:sp>
      <p:sp>
        <p:nvSpPr>
          <p:cNvPr name="TextBox 6" id="6"/>
          <p:cNvSpPr txBox="true"/>
          <p:nvPr/>
        </p:nvSpPr>
        <p:spPr>
          <a:xfrm rot="0">
            <a:off x="9328531" y="1629901"/>
            <a:ext cx="7930769" cy="3909695"/>
          </a:xfrm>
          <a:prstGeom prst="rect">
            <a:avLst/>
          </a:prstGeom>
        </p:spPr>
        <p:txBody>
          <a:bodyPr anchor="t" rtlCol="false" tIns="0" lIns="0" bIns="0" rIns="0">
            <a:spAutoFit/>
          </a:bodyPr>
          <a:lstStyle/>
          <a:p>
            <a:pPr algn="l">
              <a:lnSpc>
                <a:spcPts val="4480"/>
              </a:lnSpc>
            </a:pPr>
            <a:r>
              <a:rPr lang="en-US" sz="3200">
                <a:solidFill>
                  <a:srgbClr val="000000"/>
                </a:solidFill>
                <a:latin typeface="Noto Sans"/>
                <a:ea typeface="Noto Sans"/>
                <a:cs typeface="Noto Sans"/>
                <a:sym typeface="Noto Sans"/>
              </a:rPr>
              <a:t>Ý nghĩa:</a:t>
            </a:r>
          </a:p>
          <a:p>
            <a:pPr algn="l">
              <a:lnSpc>
                <a:spcPts val="4480"/>
              </a:lnSpc>
              <a:spcBef>
                <a:spcPct val="0"/>
              </a:spcBef>
            </a:pPr>
            <a:r>
              <a:rPr lang="en-US" sz="3200">
                <a:solidFill>
                  <a:srgbClr val="000000"/>
                </a:solidFill>
                <a:latin typeface="Noto Sans"/>
                <a:ea typeface="Noto Sans"/>
                <a:cs typeface="Noto Sans"/>
                <a:sym typeface="Noto Sans"/>
              </a:rPr>
              <a:t>G</a:t>
            </a:r>
            <a:r>
              <a:rPr lang="en-US" sz="3200">
                <a:solidFill>
                  <a:srgbClr val="000000"/>
                </a:solidFill>
                <a:latin typeface="Noto Sans"/>
                <a:ea typeface="Noto Sans"/>
                <a:cs typeface="Noto Sans"/>
                <a:sym typeface="Noto Sans"/>
              </a:rPr>
              <a:t>iúp Client biết Server vẫn hoạt động.</a:t>
            </a:r>
          </a:p>
          <a:p>
            <a:pPr algn="l">
              <a:lnSpc>
                <a:spcPts val="4480"/>
              </a:lnSpc>
              <a:spcBef>
                <a:spcPct val="0"/>
              </a:spcBef>
            </a:pPr>
          </a:p>
          <a:p>
            <a:pPr algn="l">
              <a:lnSpc>
                <a:spcPts val="4480"/>
              </a:lnSpc>
              <a:spcBef>
                <a:spcPct val="0"/>
              </a:spcBef>
            </a:pPr>
            <a:r>
              <a:rPr lang="en-US" sz="3200">
                <a:solidFill>
                  <a:srgbClr val="000000"/>
                </a:solidFill>
                <a:latin typeface="Noto Sans"/>
                <a:ea typeface="Noto Sans"/>
                <a:cs typeface="Noto Sans"/>
                <a:sym typeface="Noto Sans"/>
              </a:rPr>
              <a:t>Khi Client gửi lệnh Ping, Server phản hồi Pong để xác nhận kết nối vẫn còn hoạt động</a:t>
            </a:r>
          </a:p>
          <a:p>
            <a:pPr algn="l">
              <a:lnSpc>
                <a:spcPts val="4480"/>
              </a:lnSpc>
              <a:spcBef>
                <a:spcPct val="0"/>
              </a:spcBef>
            </a:pP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571307" y="1429817"/>
            <a:ext cx="4113590" cy="8568307"/>
          </a:xfrm>
          <a:custGeom>
            <a:avLst/>
            <a:gdLst/>
            <a:ahLst/>
            <a:cxnLst/>
            <a:rect r="r" b="b" t="t" l="l"/>
            <a:pathLst>
              <a:path h="8568307" w="4113590">
                <a:moveTo>
                  <a:pt x="0" y="0"/>
                </a:moveTo>
                <a:lnTo>
                  <a:pt x="4113590" y="0"/>
                </a:lnTo>
                <a:lnTo>
                  <a:pt x="4113590" y="8568308"/>
                </a:lnTo>
                <a:lnTo>
                  <a:pt x="0" y="8568308"/>
                </a:lnTo>
                <a:lnTo>
                  <a:pt x="0" y="0"/>
                </a:lnTo>
                <a:close/>
              </a:path>
            </a:pathLst>
          </a:custGeom>
          <a:blipFill>
            <a:blip r:embed="rId3"/>
            <a:stretch>
              <a:fillRect l="0" t="0" r="0" b="0"/>
            </a:stretch>
          </a:blipFill>
        </p:spPr>
      </p:sp>
      <p:sp>
        <p:nvSpPr>
          <p:cNvPr name="TextBox 4" id="4"/>
          <p:cNvSpPr txBox="true"/>
          <p:nvPr/>
        </p:nvSpPr>
        <p:spPr>
          <a:xfrm rot="0">
            <a:off x="6325847" y="416262"/>
            <a:ext cx="726638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Nhận file thông thường</a:t>
            </a:r>
          </a:p>
        </p:txBody>
      </p:sp>
      <p:sp>
        <p:nvSpPr>
          <p:cNvPr name="TextBox 5" id="5"/>
          <p:cNvSpPr txBox="true"/>
          <p:nvPr/>
        </p:nvSpPr>
        <p:spPr>
          <a:xfrm rot="0">
            <a:off x="6917992" y="2124240"/>
            <a:ext cx="9959039" cy="671957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 Rece</a:t>
            </a:r>
            <a:r>
              <a:rPr lang="en-US" sz="3200">
                <a:solidFill>
                  <a:srgbClr val="000000"/>
                </a:solidFill>
                <a:latin typeface="Noto Sans"/>
                <a:ea typeface="Noto Sans"/>
                <a:cs typeface="Noto Sans"/>
                <a:sym typeface="Noto Sans"/>
              </a:rPr>
              <a:t>iveLegacyFileAsync()</a:t>
            </a:r>
          </a:p>
          <a:p>
            <a:pPr algn="l">
              <a:lnSpc>
                <a:spcPts val="4480"/>
              </a:lnSpc>
              <a:spcBef>
                <a:spcPct val="0"/>
              </a:spcBef>
            </a:pPr>
            <a:r>
              <a:rPr lang="en-US" sz="3200">
                <a:solidFill>
                  <a:srgbClr val="000000"/>
                </a:solidFill>
                <a:latin typeface="Noto Sans"/>
                <a:ea typeface="Noto Sans"/>
                <a:cs typeface="Noto Sans"/>
                <a:sym typeface="Noto Sans"/>
              </a:rPr>
              <a:t>Công việc</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Đọc tên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Đọc kích thước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Lưu xuống ổ cứng.</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Nếu lỗi thì xóa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Cập nhật trạng thái thành công hoặc thất bại.</a:t>
            </a:r>
          </a:p>
          <a:p>
            <a:pPr algn="l">
              <a:lnSpc>
                <a:spcPts val="4480"/>
              </a:lnSpc>
              <a:spcBef>
                <a:spcPct val="0"/>
              </a:spcBef>
            </a:pPr>
          </a:p>
          <a:p>
            <a:pPr algn="l">
              <a:lnSpc>
                <a:spcPts val="4480"/>
              </a:lnSpc>
              <a:spcBef>
                <a:spcPct val="0"/>
              </a:spcBef>
            </a:pPr>
            <a:r>
              <a:rPr lang="en-US" sz="3200">
                <a:solidFill>
                  <a:srgbClr val="000000"/>
                </a:solidFill>
                <a:latin typeface="Noto Sans"/>
                <a:ea typeface="Noto Sans"/>
                <a:cs typeface="Noto Sans"/>
                <a:sym typeface="Noto Sans"/>
              </a:rPr>
              <a:t>Đây là phương thức upload cơ bản. Server nhận Header, sau đó ghi dữ liệu trực tiếp xuống ổ đĩa và cập nhật kết quả lên giao diện.</a:t>
            </a:r>
          </a:p>
          <a:p>
            <a:pPr algn="l">
              <a:lnSpc>
                <a:spcPts val="4480"/>
              </a:lnSpc>
              <a:spcBef>
                <a:spcPct val="0"/>
              </a:spcBef>
            </a:pP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621910" y="1360891"/>
            <a:ext cx="3370019" cy="8725346"/>
          </a:xfrm>
          <a:custGeom>
            <a:avLst/>
            <a:gdLst/>
            <a:ahLst/>
            <a:cxnLst/>
            <a:rect r="r" b="b" t="t" l="l"/>
            <a:pathLst>
              <a:path h="8725346" w="3370019">
                <a:moveTo>
                  <a:pt x="0" y="0"/>
                </a:moveTo>
                <a:lnTo>
                  <a:pt x="3370019" y="0"/>
                </a:lnTo>
                <a:lnTo>
                  <a:pt x="3370019" y="8725346"/>
                </a:lnTo>
                <a:lnTo>
                  <a:pt x="0" y="8725346"/>
                </a:lnTo>
                <a:lnTo>
                  <a:pt x="0" y="0"/>
                </a:lnTo>
                <a:close/>
              </a:path>
            </a:pathLst>
          </a:custGeom>
          <a:blipFill>
            <a:blip r:embed="rId3"/>
            <a:stretch>
              <a:fillRect l="0" t="0" r="0" b="0"/>
            </a:stretch>
          </a:blipFill>
        </p:spPr>
      </p:sp>
      <p:sp>
        <p:nvSpPr>
          <p:cNvPr name="TextBox 4" id="4"/>
          <p:cNvSpPr txBox="true"/>
          <p:nvPr/>
        </p:nvSpPr>
        <p:spPr>
          <a:xfrm rot="0">
            <a:off x="6374681" y="399394"/>
            <a:ext cx="7697391"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Nhận file Resume Upload</a:t>
            </a:r>
          </a:p>
        </p:txBody>
      </p:sp>
      <p:sp>
        <p:nvSpPr>
          <p:cNvPr name="TextBox 5" id="5"/>
          <p:cNvSpPr txBox="true"/>
          <p:nvPr/>
        </p:nvSpPr>
        <p:spPr>
          <a:xfrm rot="0">
            <a:off x="4379670" y="1303741"/>
            <a:ext cx="5843707" cy="3347720"/>
          </a:xfrm>
          <a:prstGeom prst="rect">
            <a:avLst/>
          </a:prstGeom>
        </p:spPr>
        <p:txBody>
          <a:bodyPr anchor="t" rtlCol="false" tIns="0" lIns="0" bIns="0" rIns="0">
            <a:spAutoFit/>
          </a:bodyPr>
          <a:lstStyle/>
          <a:p>
            <a:pPr algn="l">
              <a:lnSpc>
                <a:spcPts val="4480"/>
              </a:lnSpc>
            </a:pPr>
            <a:r>
              <a:rPr lang="en-US" sz="3200">
                <a:solidFill>
                  <a:srgbClr val="000000"/>
                </a:solidFill>
                <a:latin typeface="Noto Sans"/>
                <a:ea typeface="Noto Sans"/>
                <a:cs typeface="Noto Sans"/>
                <a:sym typeface="Noto Sans"/>
              </a:rPr>
              <a:t>Hàm ReceivePhase4FileAsync()</a:t>
            </a:r>
          </a:p>
          <a:p>
            <a:pPr algn="l">
              <a:lnSpc>
                <a:spcPts val="4480"/>
              </a:lnSpc>
              <a:spcBef>
                <a:spcPct val="0"/>
              </a:spcBef>
            </a:pPr>
            <a:r>
              <a:rPr lang="en-US" sz="3200">
                <a:solidFill>
                  <a:srgbClr val="000000"/>
                </a:solidFill>
                <a:latin typeface="Noto Sans"/>
                <a:ea typeface="Noto Sans"/>
                <a:cs typeface="Noto Sans"/>
                <a:sym typeface="Noto Sans"/>
              </a:rPr>
              <a:t>Khác vớ</a:t>
            </a:r>
            <a:r>
              <a:rPr lang="en-US" sz="3200">
                <a:solidFill>
                  <a:srgbClr val="000000"/>
                </a:solidFill>
                <a:latin typeface="Noto Sans"/>
                <a:ea typeface="Noto Sans"/>
                <a:cs typeface="Noto Sans"/>
                <a:sym typeface="Noto Sans"/>
              </a:rPr>
              <a:t>i Upload thường</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 Có Hash</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 Có Offset</a:t>
            </a:r>
          </a:p>
          <a:p>
            <a:pPr algn="l" marL="690881" indent="-345440" lvl="1">
              <a:lnSpc>
                <a:spcPts val="4480"/>
              </a:lnSpc>
              <a:buFont typeface="Arial"/>
              <a:buChar char="•"/>
            </a:pPr>
            <a:r>
              <a:rPr lang="en-US" sz="3200">
                <a:solidFill>
                  <a:srgbClr val="000000"/>
                </a:solidFill>
                <a:latin typeface="Noto Sans"/>
                <a:ea typeface="Noto Sans"/>
                <a:cs typeface="Noto Sans"/>
                <a:sym typeface="Noto Sans"/>
              </a:rPr>
              <a:t>✔ Resume Upload</a:t>
            </a:r>
          </a:p>
          <a:p>
            <a:pPr algn="l">
              <a:lnSpc>
                <a:spcPts val="4480"/>
              </a:lnSpc>
              <a:spcBef>
                <a:spcPct val="0"/>
              </a:spcBef>
            </a:pPr>
          </a:p>
        </p:txBody>
      </p:sp>
      <p:sp>
        <p:nvSpPr>
          <p:cNvPr name="TextBox 6" id="6"/>
          <p:cNvSpPr txBox="true"/>
          <p:nvPr/>
        </p:nvSpPr>
        <p:spPr>
          <a:xfrm rot="0">
            <a:off x="4379670" y="4594311"/>
            <a:ext cx="12494611" cy="166179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Đây là ph</a:t>
            </a:r>
            <a:r>
              <a:rPr lang="en-US" sz="3200">
                <a:solidFill>
                  <a:srgbClr val="000000"/>
                </a:solidFill>
                <a:latin typeface="Noto Sans"/>
                <a:ea typeface="Noto Sans"/>
                <a:cs typeface="Noto Sans"/>
                <a:sym typeface="Noto Sans"/>
              </a:rPr>
              <a:t>iên bản nâng cao. Nếu mạng bị mất, Server sẽ tính phần dữ liệu đã nhận và yêu cầu Client tiếp tục gửi từ vị trí đó thay vì gửi lại toàn bộ file</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1691039" y="1268927"/>
            <a:ext cx="3269522" cy="6772581"/>
          </a:xfrm>
          <a:custGeom>
            <a:avLst/>
            <a:gdLst/>
            <a:ahLst/>
            <a:cxnLst/>
            <a:rect r="r" b="b" t="t" l="l"/>
            <a:pathLst>
              <a:path h="6772581" w="3269522">
                <a:moveTo>
                  <a:pt x="0" y="0"/>
                </a:moveTo>
                <a:lnTo>
                  <a:pt x="3269522" y="0"/>
                </a:lnTo>
                <a:lnTo>
                  <a:pt x="3269522" y="6772581"/>
                </a:lnTo>
                <a:lnTo>
                  <a:pt x="0" y="6772581"/>
                </a:lnTo>
                <a:lnTo>
                  <a:pt x="0" y="0"/>
                </a:lnTo>
                <a:close/>
              </a:path>
            </a:pathLst>
          </a:custGeom>
          <a:blipFill>
            <a:blip r:embed="rId3"/>
            <a:stretch>
              <a:fillRect l="0" t="0" r="0" b="0"/>
            </a:stretch>
          </a:blipFill>
        </p:spPr>
      </p:sp>
      <p:sp>
        <p:nvSpPr>
          <p:cNvPr name="TextBox 4" id="4"/>
          <p:cNvSpPr txBox="true"/>
          <p:nvPr/>
        </p:nvSpPr>
        <p:spPr>
          <a:xfrm rot="0">
            <a:off x="7120633" y="389781"/>
            <a:ext cx="351805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Đọc</a:t>
            </a:r>
            <a:r>
              <a:rPr lang="en-US" b="true" sz="4800">
                <a:solidFill>
                  <a:srgbClr val="000000"/>
                </a:solidFill>
                <a:latin typeface="Noto Sans Bold"/>
                <a:ea typeface="Noto Sans Bold"/>
                <a:cs typeface="Noto Sans Bold"/>
                <a:sym typeface="Noto Sans Bold"/>
              </a:rPr>
              <a:t> Header</a:t>
            </a:r>
          </a:p>
        </p:txBody>
      </p:sp>
      <p:sp>
        <p:nvSpPr>
          <p:cNvPr name="TextBox 5" id="5"/>
          <p:cNvSpPr txBox="true"/>
          <p:nvPr/>
        </p:nvSpPr>
        <p:spPr>
          <a:xfrm rot="0">
            <a:off x="5590012" y="1211777"/>
            <a:ext cx="7350285" cy="559562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a:t>
            </a:r>
            <a:r>
              <a:rPr lang="en-US" sz="3200">
                <a:solidFill>
                  <a:srgbClr val="000000"/>
                </a:solidFill>
                <a:latin typeface="Noto Sans"/>
                <a:ea typeface="Noto Sans"/>
                <a:cs typeface="Noto Sans"/>
                <a:sym typeface="Noto Sans"/>
              </a:rPr>
              <a:t> ReadLegacyHeaderAsync()</a:t>
            </a:r>
          </a:p>
          <a:p>
            <a:pPr algn="l">
              <a:lnSpc>
                <a:spcPts val="4480"/>
              </a:lnSpc>
              <a:spcBef>
                <a:spcPct val="0"/>
              </a:spcBef>
            </a:pPr>
            <a:r>
              <a:rPr lang="en-US" sz="3200">
                <a:solidFill>
                  <a:srgbClr val="000000"/>
                </a:solidFill>
                <a:latin typeface="Noto Sans"/>
                <a:ea typeface="Noto Sans"/>
                <a:cs typeface="Noto Sans"/>
                <a:sym typeface="Noto Sans"/>
              </a:rPr>
              <a:t>Chức năng</a:t>
            </a:r>
          </a:p>
          <a:p>
            <a:pPr algn="l">
              <a:lnSpc>
                <a:spcPts val="4480"/>
              </a:lnSpc>
              <a:spcBef>
                <a:spcPct val="0"/>
              </a:spcBef>
            </a:pPr>
            <a:r>
              <a:rPr lang="en-US" sz="3200">
                <a:solidFill>
                  <a:srgbClr val="000000"/>
                </a:solidFill>
                <a:latin typeface="Noto Sans"/>
                <a:ea typeface="Noto Sans"/>
                <a:cs typeface="Noto Sans"/>
                <a:sym typeface="Noto Sans"/>
              </a:rPr>
              <a:t>Đọc thông tin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File Name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File Size</a:t>
            </a:r>
          </a:p>
          <a:p>
            <a:pPr algn="l">
              <a:lnSpc>
                <a:spcPts val="4480"/>
              </a:lnSpc>
              <a:spcBef>
                <a:spcPct val="0"/>
              </a:spcBef>
            </a:pPr>
            <a:r>
              <a:rPr lang="en-US" sz="3200">
                <a:solidFill>
                  <a:srgbClr val="000000"/>
                </a:solidFill>
                <a:latin typeface="Noto Sans"/>
                <a:ea typeface="Noto Sans"/>
                <a:cs typeface="Noto Sans"/>
                <a:sym typeface="Noto Sans"/>
              </a:rPr>
              <a:t>Ngoài thông tin trên còn đọc thêm</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SHA-256 Hash</a:t>
            </a:r>
          </a:p>
          <a:p>
            <a:pPr algn="l">
              <a:lnSpc>
                <a:spcPts val="4480"/>
              </a:lnSpc>
              <a:spcBef>
                <a:spcPct val="0"/>
              </a:spcBef>
            </a:pPr>
            <a:r>
              <a:rPr lang="en-US" sz="3200">
                <a:solidFill>
                  <a:srgbClr val="000000"/>
                </a:solidFill>
                <a:latin typeface="Noto Sans"/>
                <a:ea typeface="Noto Sans"/>
                <a:cs typeface="Noto Sans"/>
                <a:sym typeface="Noto Sans"/>
              </a:rPr>
              <a:t>để kiểm tra dữ liệu sau khi Upload.</a:t>
            </a:r>
          </a:p>
          <a:p>
            <a:pPr algn="l">
              <a:lnSpc>
                <a:spcPts val="4480"/>
              </a:lnSpc>
              <a:spcBef>
                <a:spcPct val="0"/>
              </a:spcBef>
            </a:pPr>
          </a:p>
          <a:p>
            <a:pPr algn="l">
              <a:lnSpc>
                <a:spcPts val="4480"/>
              </a:lnSpc>
              <a:spcBef>
                <a:spcPct val="0"/>
              </a:spcBef>
            </a:pPr>
          </a:p>
        </p:txBody>
      </p:sp>
      <p:sp>
        <p:nvSpPr>
          <p:cNvPr name="TextBox 6" id="6"/>
          <p:cNvSpPr txBox="true"/>
          <p:nvPr/>
        </p:nvSpPr>
        <p:spPr>
          <a:xfrm rot="0">
            <a:off x="1908538" y="8220752"/>
            <a:ext cx="2834525" cy="1099820"/>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Sa</a:t>
            </a:r>
            <a:r>
              <a:rPr lang="en-US" sz="3200">
                <a:solidFill>
                  <a:srgbClr val="000000"/>
                </a:solidFill>
                <a:latin typeface="Noto Sans"/>
                <a:ea typeface="Noto Sans"/>
                <a:cs typeface="Noto Sans"/>
                <a:sym typeface="Noto Sans"/>
              </a:rPr>
              <a:t>u đó trả về FileHeader</a:t>
            </a:r>
          </a:p>
        </p:txBody>
      </p:sp>
      <p:sp>
        <p:nvSpPr>
          <p:cNvPr name="TextBox 7" id="7"/>
          <p:cNvSpPr txBox="true"/>
          <p:nvPr/>
        </p:nvSpPr>
        <p:spPr>
          <a:xfrm rot="0">
            <a:off x="6801557" y="6057548"/>
            <a:ext cx="10225717" cy="222377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Ha</a:t>
            </a:r>
            <a:r>
              <a:rPr lang="en-US" sz="3200">
                <a:solidFill>
                  <a:srgbClr val="000000"/>
                </a:solidFill>
                <a:latin typeface="Noto Sans"/>
                <a:ea typeface="Noto Sans"/>
                <a:cs typeface="Noto Sans"/>
                <a:sym typeface="Noto Sans"/>
              </a:rPr>
              <a:t>i hàm này chịu trách nhiệm đọc thông tin đầu vào của file. Điểm khác biệt là ReadPhase4HeaderAsync() bổ sung thêm chuỗi Hash để phục vụ kiểm tra tính toàn vẹn của dữ liệu</a:t>
            </a:r>
          </a:p>
        </p:txBody>
      </p:sp>
      <p:sp>
        <p:nvSpPr>
          <p:cNvPr name="TextBox 8" id="8"/>
          <p:cNvSpPr txBox="true"/>
          <p:nvPr/>
        </p:nvSpPr>
        <p:spPr>
          <a:xfrm rot="0">
            <a:off x="5917995" y="6660163"/>
            <a:ext cx="697111"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=&gt;&gt;</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4919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635055" y="4544765"/>
            <a:ext cx="2391235" cy="5319279"/>
          </a:xfrm>
          <a:custGeom>
            <a:avLst/>
            <a:gdLst/>
            <a:ahLst/>
            <a:cxnLst/>
            <a:rect r="r" b="b" t="t" l="l"/>
            <a:pathLst>
              <a:path h="5319279" w="2391235">
                <a:moveTo>
                  <a:pt x="0" y="0"/>
                </a:moveTo>
                <a:lnTo>
                  <a:pt x="2391235" y="0"/>
                </a:lnTo>
                <a:lnTo>
                  <a:pt x="2391235" y="5319278"/>
                </a:lnTo>
                <a:lnTo>
                  <a:pt x="0" y="5319278"/>
                </a:lnTo>
                <a:lnTo>
                  <a:pt x="0" y="0"/>
                </a:lnTo>
                <a:close/>
              </a:path>
            </a:pathLst>
          </a:custGeom>
          <a:blipFill>
            <a:blip r:embed="rId3"/>
            <a:stretch>
              <a:fillRect l="0" t="0" r="0" b="0"/>
            </a:stretch>
          </a:blipFill>
        </p:spPr>
      </p:sp>
      <p:sp>
        <p:nvSpPr>
          <p:cNvPr name="Freeform 4" id="4"/>
          <p:cNvSpPr/>
          <p:nvPr/>
        </p:nvSpPr>
        <p:spPr>
          <a:xfrm flipH="false" flipV="false" rot="0">
            <a:off x="635055" y="1429820"/>
            <a:ext cx="5296415" cy="3114945"/>
          </a:xfrm>
          <a:custGeom>
            <a:avLst/>
            <a:gdLst/>
            <a:ahLst/>
            <a:cxnLst/>
            <a:rect r="r" b="b" t="t" l="l"/>
            <a:pathLst>
              <a:path h="3114945" w="5296415">
                <a:moveTo>
                  <a:pt x="0" y="0"/>
                </a:moveTo>
                <a:lnTo>
                  <a:pt x="5296415" y="0"/>
                </a:lnTo>
                <a:lnTo>
                  <a:pt x="5296415" y="3114945"/>
                </a:lnTo>
                <a:lnTo>
                  <a:pt x="0" y="3114945"/>
                </a:lnTo>
                <a:lnTo>
                  <a:pt x="0" y="0"/>
                </a:lnTo>
                <a:close/>
              </a:path>
            </a:pathLst>
          </a:custGeom>
          <a:blipFill>
            <a:blip r:embed="rId4"/>
            <a:stretch>
              <a:fillRect l="0" t="-1720" r="0" b="-1720"/>
            </a:stretch>
          </a:blipFill>
        </p:spPr>
      </p:sp>
      <p:sp>
        <p:nvSpPr>
          <p:cNvPr name="TextBox 5" id="5"/>
          <p:cNvSpPr txBox="true"/>
          <p:nvPr/>
        </p:nvSpPr>
        <p:spPr>
          <a:xfrm rot="0">
            <a:off x="6447277" y="389781"/>
            <a:ext cx="662701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Gh</a:t>
            </a:r>
            <a:r>
              <a:rPr lang="en-US" b="true" sz="4800">
                <a:solidFill>
                  <a:srgbClr val="000000"/>
                </a:solidFill>
                <a:latin typeface="Noto Sans Bold"/>
                <a:ea typeface="Noto Sans Bold"/>
                <a:cs typeface="Noto Sans Bold"/>
                <a:sym typeface="Noto Sans Bold"/>
              </a:rPr>
              <a:t>i dữ liệu xuống File</a:t>
            </a:r>
          </a:p>
        </p:txBody>
      </p:sp>
      <p:sp>
        <p:nvSpPr>
          <p:cNvPr name="TextBox 6" id="6"/>
          <p:cNvSpPr txBox="true"/>
          <p:nvPr/>
        </p:nvSpPr>
        <p:spPr>
          <a:xfrm rot="0">
            <a:off x="6447277" y="1372670"/>
            <a:ext cx="7457697" cy="334772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Hàm</a:t>
            </a:r>
            <a:r>
              <a:rPr lang="en-US" sz="3200">
                <a:solidFill>
                  <a:srgbClr val="000000"/>
                </a:solidFill>
                <a:latin typeface="Noto Sans"/>
                <a:ea typeface="Noto Sans"/>
                <a:cs typeface="Noto Sans"/>
                <a:sym typeface="Noto Sans"/>
              </a:rPr>
              <a:t> SaveStreamToFileAsync()</a:t>
            </a:r>
          </a:p>
          <a:p>
            <a:pPr algn="l">
              <a:lnSpc>
                <a:spcPts val="4480"/>
              </a:lnSpc>
              <a:spcBef>
                <a:spcPct val="0"/>
              </a:spcBef>
            </a:pPr>
            <a:r>
              <a:rPr lang="en-US" sz="3200">
                <a:solidFill>
                  <a:srgbClr val="000000"/>
                </a:solidFill>
                <a:latin typeface="Noto Sans"/>
                <a:ea typeface="Noto Sans"/>
                <a:cs typeface="Noto Sans"/>
                <a:sym typeface="Noto Sans"/>
              </a:rPr>
              <a:t>Chức năng</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Đọc từng Buffer.</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Ghi xuống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Hỗ trợ Resume bằng Offset.</a:t>
            </a:r>
          </a:p>
          <a:p>
            <a:pPr algn="l">
              <a:lnSpc>
                <a:spcPts val="4480"/>
              </a:lnSpc>
              <a:spcBef>
                <a:spcPct val="0"/>
              </a:spcBef>
            </a:pPr>
          </a:p>
        </p:txBody>
      </p:sp>
      <p:sp>
        <p:nvSpPr>
          <p:cNvPr name="TextBox 7" id="7"/>
          <p:cNvSpPr txBox="true"/>
          <p:nvPr/>
        </p:nvSpPr>
        <p:spPr>
          <a:xfrm rot="0">
            <a:off x="5705276" y="5639014"/>
            <a:ext cx="11349150" cy="2223770"/>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Đây là hàm gh</a:t>
            </a:r>
            <a:r>
              <a:rPr lang="en-US" sz="3200">
                <a:solidFill>
                  <a:srgbClr val="000000"/>
                </a:solidFill>
                <a:latin typeface="Noto Sans"/>
                <a:ea typeface="Noto Sans"/>
                <a:cs typeface="Noto Sans"/>
                <a:sym typeface="Noto Sans"/>
              </a:rPr>
              <a:t>i dữ liệu quan trọng nhất. Server đọc từng khối dữ liệu từ NetworkStream, sau đó ghi xuống FileStream cho đến khi đủ kích thước file. Nếu là Resume Upload thì việc ghi sẽ bắt đầu từ vị trí offset thay vì từ đầu</a:t>
            </a:r>
          </a:p>
        </p:txBody>
      </p:sp>
      <p:sp>
        <p:nvSpPr>
          <p:cNvPr name="TextBox 8" id="8"/>
          <p:cNvSpPr txBox="true"/>
          <p:nvPr/>
        </p:nvSpPr>
        <p:spPr>
          <a:xfrm rot="0">
            <a:off x="4566050" y="6481976"/>
            <a:ext cx="697111"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=&gt;&gt;</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277386" y="1863437"/>
            <a:ext cx="6259364" cy="2858443"/>
          </a:xfrm>
          <a:custGeom>
            <a:avLst/>
            <a:gdLst/>
            <a:ahLst/>
            <a:cxnLst/>
            <a:rect r="r" b="b" t="t" l="l"/>
            <a:pathLst>
              <a:path h="2858443" w="6259364">
                <a:moveTo>
                  <a:pt x="0" y="0"/>
                </a:moveTo>
                <a:lnTo>
                  <a:pt x="6259365" y="0"/>
                </a:lnTo>
                <a:lnTo>
                  <a:pt x="6259365" y="2858443"/>
                </a:lnTo>
                <a:lnTo>
                  <a:pt x="0" y="2858443"/>
                </a:lnTo>
                <a:lnTo>
                  <a:pt x="0" y="0"/>
                </a:lnTo>
                <a:close/>
              </a:path>
            </a:pathLst>
          </a:custGeom>
          <a:blipFill>
            <a:blip r:embed="rId3"/>
            <a:stretch>
              <a:fillRect l="0" t="0" r="0" b="0"/>
            </a:stretch>
          </a:blipFill>
        </p:spPr>
      </p:sp>
      <p:sp>
        <p:nvSpPr>
          <p:cNvPr name="Freeform 4" id="4"/>
          <p:cNvSpPr/>
          <p:nvPr/>
        </p:nvSpPr>
        <p:spPr>
          <a:xfrm flipH="false" flipV="false" rot="0">
            <a:off x="277386" y="4721880"/>
            <a:ext cx="5920701" cy="4980017"/>
          </a:xfrm>
          <a:custGeom>
            <a:avLst/>
            <a:gdLst/>
            <a:ahLst/>
            <a:cxnLst/>
            <a:rect r="r" b="b" t="t" l="l"/>
            <a:pathLst>
              <a:path h="4980017" w="5920701">
                <a:moveTo>
                  <a:pt x="0" y="0"/>
                </a:moveTo>
                <a:lnTo>
                  <a:pt x="5920702" y="0"/>
                </a:lnTo>
                <a:lnTo>
                  <a:pt x="5920702" y="4980017"/>
                </a:lnTo>
                <a:lnTo>
                  <a:pt x="0" y="4980017"/>
                </a:lnTo>
                <a:lnTo>
                  <a:pt x="0" y="0"/>
                </a:lnTo>
                <a:close/>
              </a:path>
            </a:pathLst>
          </a:custGeom>
          <a:blipFill>
            <a:blip r:embed="rId4"/>
            <a:stretch>
              <a:fillRect l="0" t="0" r="-1549" b="0"/>
            </a:stretch>
          </a:blipFill>
        </p:spPr>
      </p:sp>
      <p:sp>
        <p:nvSpPr>
          <p:cNvPr name="TextBox 5" id="5"/>
          <p:cNvSpPr txBox="true"/>
          <p:nvPr/>
        </p:nvSpPr>
        <p:spPr>
          <a:xfrm rot="0">
            <a:off x="7404795" y="580072"/>
            <a:ext cx="3478411"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St</a:t>
            </a:r>
            <a:r>
              <a:rPr lang="en-US" b="true" sz="4800">
                <a:solidFill>
                  <a:srgbClr val="000000"/>
                </a:solidFill>
                <a:latin typeface="Noto Sans Bold"/>
                <a:ea typeface="Noto Sans Bold"/>
                <a:cs typeface="Noto Sans Bold"/>
                <a:sym typeface="Noto Sans Bold"/>
              </a:rPr>
              <a:t>op Server</a:t>
            </a:r>
          </a:p>
        </p:txBody>
      </p:sp>
      <p:sp>
        <p:nvSpPr>
          <p:cNvPr name="TextBox 6" id="6"/>
          <p:cNvSpPr txBox="true"/>
          <p:nvPr/>
        </p:nvSpPr>
        <p:spPr>
          <a:xfrm rot="0">
            <a:off x="6646659" y="2177388"/>
            <a:ext cx="11506557" cy="5312675"/>
          </a:xfrm>
          <a:prstGeom prst="rect">
            <a:avLst/>
          </a:prstGeom>
        </p:spPr>
        <p:txBody>
          <a:bodyPr anchor="t" rtlCol="false" tIns="0" lIns="0" bIns="0" rIns="0">
            <a:spAutoFit/>
          </a:bodyPr>
          <a:lstStyle/>
          <a:p>
            <a:pPr algn="l" marL="722957" indent="-361479" lvl="1">
              <a:lnSpc>
                <a:spcPts val="4688"/>
              </a:lnSpc>
              <a:spcBef>
                <a:spcPct val="0"/>
              </a:spcBef>
              <a:buFont typeface="Arial"/>
              <a:buChar char="•"/>
            </a:pPr>
            <a:r>
              <a:rPr lang="en-US" sz="3348">
                <a:solidFill>
                  <a:srgbClr val="000000"/>
                </a:solidFill>
                <a:latin typeface="Noto Sans"/>
                <a:ea typeface="Noto Sans"/>
                <a:cs typeface="Noto Sans"/>
                <a:sym typeface="Noto Sans"/>
              </a:rPr>
              <a:t>Đây là chức năng dừng Server. Khi ngườ</a:t>
            </a:r>
            <a:r>
              <a:rPr lang="en-US" sz="3348">
                <a:solidFill>
                  <a:srgbClr val="000000"/>
                </a:solidFill>
                <a:latin typeface="Noto Sans"/>
                <a:ea typeface="Noto Sans"/>
                <a:cs typeface="Noto Sans"/>
                <a:sym typeface="Noto Sans"/>
              </a:rPr>
              <a:t>i dùng nhấn nút Stop, chương trình sẽ gọi hàm StopServer().</a:t>
            </a:r>
          </a:p>
          <a:p>
            <a:pPr algn="l" marL="722957" indent="-361479" lvl="1">
              <a:lnSpc>
                <a:spcPts val="4688"/>
              </a:lnSpc>
              <a:spcBef>
                <a:spcPct val="0"/>
              </a:spcBef>
              <a:buFont typeface="Arial"/>
              <a:buChar char="•"/>
            </a:pPr>
            <a:r>
              <a:rPr lang="en-US" sz="3348">
                <a:solidFill>
                  <a:srgbClr val="000000"/>
                </a:solidFill>
                <a:latin typeface="Noto Sans"/>
                <a:ea typeface="Noto Sans"/>
                <a:cs typeface="Noto Sans"/>
                <a:sym typeface="Noto Sans"/>
              </a:rPr>
              <a:t>Trong hàm này, đầu tiên em đặt isRunning = false để dừng vòng lặp nhận kết nối.</a:t>
            </a:r>
          </a:p>
          <a:p>
            <a:pPr algn="l" marL="722957" indent="-361479" lvl="1">
              <a:lnSpc>
                <a:spcPts val="4688"/>
              </a:lnSpc>
              <a:spcBef>
                <a:spcPct val="0"/>
              </a:spcBef>
              <a:buFont typeface="Arial"/>
              <a:buChar char="•"/>
            </a:pPr>
            <a:r>
              <a:rPr lang="en-US" sz="3348">
                <a:solidFill>
                  <a:srgbClr val="000000"/>
                </a:solidFill>
                <a:latin typeface="Noto Sans"/>
                <a:ea typeface="Noto Sans"/>
                <a:cs typeface="Noto Sans"/>
                <a:sym typeface="Noto Sans"/>
              </a:rPr>
              <a:t>Tiếp theo dừng TcpListener, hủy tiến trình kiểm tra Client, đóng toàn bộ kết nối TCP còn mở, xóa danh sách Client và cuối cùng cập nhật lại giao diện sang trạng thái Offline.</a:t>
            </a:r>
          </a:p>
          <a:p>
            <a:pPr algn="l">
              <a:lnSpc>
                <a:spcPts val="4688"/>
              </a:lnSpc>
              <a:spcBef>
                <a:spcPct val="0"/>
              </a:spcBef>
            </a:pP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0" y="1457012"/>
            <a:ext cx="6511990" cy="5517103"/>
          </a:xfrm>
          <a:custGeom>
            <a:avLst/>
            <a:gdLst/>
            <a:ahLst/>
            <a:cxnLst/>
            <a:rect r="r" b="b" t="t" l="l"/>
            <a:pathLst>
              <a:path h="5517103" w="6511990">
                <a:moveTo>
                  <a:pt x="0" y="0"/>
                </a:moveTo>
                <a:lnTo>
                  <a:pt x="6511990" y="0"/>
                </a:lnTo>
                <a:lnTo>
                  <a:pt x="6511990" y="5517103"/>
                </a:lnTo>
                <a:lnTo>
                  <a:pt x="0" y="5517103"/>
                </a:lnTo>
                <a:lnTo>
                  <a:pt x="0" y="0"/>
                </a:lnTo>
                <a:close/>
              </a:path>
            </a:pathLst>
          </a:custGeom>
          <a:blipFill>
            <a:blip r:embed="rId3"/>
            <a:stretch>
              <a:fillRect l="0" t="0" r="0" b="0"/>
            </a:stretch>
          </a:blipFill>
        </p:spPr>
      </p:sp>
      <p:sp>
        <p:nvSpPr>
          <p:cNvPr name="TextBox 4" id="4"/>
          <p:cNvSpPr txBox="true"/>
          <p:nvPr/>
        </p:nvSpPr>
        <p:spPr>
          <a:xfrm rot="0">
            <a:off x="6511990" y="217170"/>
            <a:ext cx="8927902"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Cập</a:t>
            </a:r>
            <a:r>
              <a:rPr lang="en-US" b="true" sz="4800">
                <a:solidFill>
                  <a:srgbClr val="000000"/>
                </a:solidFill>
                <a:latin typeface="Noto Sans Bold"/>
                <a:ea typeface="Noto Sans Bold"/>
                <a:cs typeface="Noto Sans Bold"/>
                <a:sym typeface="Noto Sans Bold"/>
              </a:rPr>
              <a:t> nhật trạng thái giao diện</a:t>
            </a:r>
          </a:p>
        </p:txBody>
      </p:sp>
      <p:sp>
        <p:nvSpPr>
          <p:cNvPr name="TextBox 5" id="5"/>
          <p:cNvSpPr txBox="true"/>
          <p:nvPr/>
        </p:nvSpPr>
        <p:spPr>
          <a:xfrm rot="0">
            <a:off x="6913504" y="1652469"/>
            <a:ext cx="11077855" cy="4811133"/>
          </a:xfrm>
          <a:prstGeom prst="rect">
            <a:avLst/>
          </a:prstGeom>
        </p:spPr>
        <p:txBody>
          <a:bodyPr anchor="t" rtlCol="false" tIns="0" lIns="0" bIns="0" rIns="0">
            <a:spAutoFit/>
          </a:bodyPr>
          <a:lstStyle/>
          <a:p>
            <a:pPr algn="l">
              <a:lnSpc>
                <a:spcPts val="4789"/>
              </a:lnSpc>
              <a:spcBef>
                <a:spcPct val="0"/>
              </a:spcBef>
            </a:pPr>
            <a:r>
              <a:rPr lang="en-US" sz="3420">
                <a:solidFill>
                  <a:srgbClr val="000000"/>
                </a:solidFill>
                <a:latin typeface="Noto Sans"/>
                <a:ea typeface="Noto Sans"/>
                <a:cs typeface="Noto Sans"/>
                <a:sym typeface="Noto Sans"/>
              </a:rPr>
              <a:t>Hàm này không xử lý mạng mà chỉ cập nhật g</a:t>
            </a:r>
            <a:r>
              <a:rPr lang="en-US" sz="3420">
                <a:solidFill>
                  <a:srgbClr val="000000"/>
                </a:solidFill>
                <a:latin typeface="Noto Sans"/>
                <a:ea typeface="Noto Sans"/>
                <a:cs typeface="Noto Sans"/>
                <a:sym typeface="Noto Sans"/>
              </a:rPr>
              <a:t>iao diện.</a:t>
            </a:r>
          </a:p>
          <a:p>
            <a:pPr algn="l">
              <a:lnSpc>
                <a:spcPts val="4789"/>
              </a:lnSpc>
              <a:spcBef>
                <a:spcPct val="0"/>
              </a:spcBef>
            </a:pPr>
            <a:r>
              <a:rPr lang="en-US" sz="3420">
                <a:solidFill>
                  <a:srgbClr val="000000"/>
                </a:solidFill>
                <a:latin typeface="Noto Sans"/>
                <a:ea typeface="Noto Sans"/>
                <a:cs typeface="Noto Sans"/>
                <a:sym typeface="Noto Sans"/>
              </a:rPr>
              <a:t>Khi Server chạy:</a:t>
            </a:r>
          </a:p>
          <a:p>
            <a:pPr algn="l" marL="738542" indent="-369271" lvl="1">
              <a:lnSpc>
                <a:spcPts val="4789"/>
              </a:lnSpc>
              <a:spcBef>
                <a:spcPct val="0"/>
              </a:spcBef>
              <a:buFont typeface="Arial"/>
              <a:buChar char="•"/>
            </a:pPr>
            <a:r>
              <a:rPr lang="en-US" sz="3420">
                <a:solidFill>
                  <a:srgbClr val="000000"/>
                </a:solidFill>
                <a:latin typeface="Noto Sans"/>
                <a:ea typeface="Noto Sans"/>
                <a:cs typeface="Noto Sans"/>
                <a:sym typeface="Noto Sans"/>
              </a:rPr>
              <a:t>khóa ô nhập IP và Port</a:t>
            </a:r>
          </a:p>
          <a:p>
            <a:pPr algn="l" marL="738542" indent="-369271" lvl="1">
              <a:lnSpc>
                <a:spcPts val="4789"/>
              </a:lnSpc>
              <a:spcBef>
                <a:spcPct val="0"/>
              </a:spcBef>
              <a:buFont typeface="Arial"/>
              <a:buChar char="•"/>
            </a:pPr>
            <a:r>
              <a:rPr lang="en-US" sz="3420">
                <a:solidFill>
                  <a:srgbClr val="000000"/>
                </a:solidFill>
                <a:latin typeface="Noto Sans"/>
                <a:ea typeface="Noto Sans"/>
                <a:cs typeface="Noto Sans"/>
                <a:sym typeface="Noto Sans"/>
              </a:rPr>
              <a:t>vô hiệu nút Start</a:t>
            </a:r>
          </a:p>
          <a:p>
            <a:pPr algn="l" marL="738542" indent="-369271" lvl="1">
              <a:lnSpc>
                <a:spcPts val="4789"/>
              </a:lnSpc>
              <a:spcBef>
                <a:spcPct val="0"/>
              </a:spcBef>
              <a:buFont typeface="Arial"/>
              <a:buChar char="•"/>
            </a:pPr>
            <a:r>
              <a:rPr lang="en-US" sz="3420">
                <a:solidFill>
                  <a:srgbClr val="000000"/>
                </a:solidFill>
                <a:latin typeface="Noto Sans"/>
                <a:ea typeface="Noto Sans"/>
                <a:cs typeface="Noto Sans"/>
                <a:sym typeface="Noto Sans"/>
              </a:rPr>
              <a:t>bật nút Stop</a:t>
            </a:r>
          </a:p>
          <a:p>
            <a:pPr algn="l" marL="738542" indent="-369271" lvl="1">
              <a:lnSpc>
                <a:spcPts val="4789"/>
              </a:lnSpc>
              <a:spcBef>
                <a:spcPct val="0"/>
              </a:spcBef>
              <a:buFont typeface="Arial"/>
              <a:buChar char="•"/>
            </a:pPr>
            <a:r>
              <a:rPr lang="en-US" sz="3420">
                <a:solidFill>
                  <a:srgbClr val="000000"/>
                </a:solidFill>
                <a:latin typeface="Noto Sans"/>
                <a:ea typeface="Noto Sans"/>
                <a:cs typeface="Noto Sans"/>
                <a:sym typeface="Noto Sans"/>
              </a:rPr>
              <a:t>đổi trạng thái sang Running</a:t>
            </a:r>
          </a:p>
          <a:p>
            <a:pPr algn="l">
              <a:lnSpc>
                <a:spcPts val="4789"/>
              </a:lnSpc>
              <a:spcBef>
                <a:spcPct val="0"/>
              </a:spcBef>
            </a:pPr>
            <a:r>
              <a:rPr lang="en-US" sz="3420">
                <a:solidFill>
                  <a:srgbClr val="000000"/>
                </a:solidFill>
                <a:latin typeface="Noto Sans"/>
                <a:ea typeface="Noto Sans"/>
                <a:cs typeface="Noto Sans"/>
                <a:sym typeface="Noto Sans"/>
              </a:rPr>
              <a:t>Khi Server dừng thì làm ngược lại.</a:t>
            </a:r>
          </a:p>
          <a:p>
            <a:pPr algn="l">
              <a:lnSpc>
                <a:spcPts val="4789"/>
              </a:lnSpc>
              <a:spcBef>
                <a:spcPct val="0"/>
              </a:spcBef>
            </a:pP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657792" y="1809910"/>
            <a:ext cx="9174923" cy="1359248"/>
          </a:xfrm>
          <a:custGeom>
            <a:avLst/>
            <a:gdLst/>
            <a:ahLst/>
            <a:cxnLst/>
            <a:rect r="r" b="b" t="t" l="l"/>
            <a:pathLst>
              <a:path h="1359248" w="9174923">
                <a:moveTo>
                  <a:pt x="0" y="0"/>
                </a:moveTo>
                <a:lnTo>
                  <a:pt x="9174923" y="0"/>
                </a:lnTo>
                <a:lnTo>
                  <a:pt x="9174923" y="1359248"/>
                </a:lnTo>
                <a:lnTo>
                  <a:pt x="0" y="1359248"/>
                </a:lnTo>
                <a:lnTo>
                  <a:pt x="0" y="0"/>
                </a:lnTo>
                <a:close/>
              </a:path>
            </a:pathLst>
          </a:custGeom>
          <a:blipFill>
            <a:blip r:embed="rId3"/>
            <a:stretch>
              <a:fillRect l="0" t="0" r="0" b="0"/>
            </a:stretch>
          </a:blipFill>
        </p:spPr>
      </p:sp>
      <p:sp>
        <p:nvSpPr>
          <p:cNvPr name="Freeform 4" id="4"/>
          <p:cNvSpPr/>
          <p:nvPr/>
        </p:nvSpPr>
        <p:spPr>
          <a:xfrm flipH="false" flipV="false" rot="0">
            <a:off x="557534" y="5140990"/>
            <a:ext cx="6098013" cy="1207527"/>
          </a:xfrm>
          <a:custGeom>
            <a:avLst/>
            <a:gdLst/>
            <a:ahLst/>
            <a:cxnLst/>
            <a:rect r="r" b="b" t="t" l="l"/>
            <a:pathLst>
              <a:path h="1207527" w="6098013">
                <a:moveTo>
                  <a:pt x="0" y="0"/>
                </a:moveTo>
                <a:lnTo>
                  <a:pt x="6098013" y="0"/>
                </a:lnTo>
                <a:lnTo>
                  <a:pt x="6098013" y="1207527"/>
                </a:lnTo>
                <a:lnTo>
                  <a:pt x="0" y="1207527"/>
                </a:lnTo>
                <a:lnTo>
                  <a:pt x="0" y="0"/>
                </a:lnTo>
                <a:close/>
              </a:path>
            </a:pathLst>
          </a:custGeom>
          <a:blipFill>
            <a:blip r:embed="rId4"/>
            <a:stretch>
              <a:fillRect l="0" t="0" r="0" b="0"/>
            </a:stretch>
          </a:blipFill>
        </p:spPr>
      </p:sp>
      <p:sp>
        <p:nvSpPr>
          <p:cNvPr name="TextBox 5" id="5"/>
          <p:cNvSpPr txBox="true"/>
          <p:nvPr/>
        </p:nvSpPr>
        <p:spPr>
          <a:xfrm rot="0">
            <a:off x="6655547" y="373370"/>
            <a:ext cx="751343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K</a:t>
            </a:r>
            <a:r>
              <a:rPr lang="en-US" b="true" sz="4800">
                <a:solidFill>
                  <a:srgbClr val="000000"/>
                </a:solidFill>
                <a:latin typeface="Noto Sans Bold"/>
                <a:ea typeface="Noto Sans Bold"/>
                <a:cs typeface="Noto Sans Bold"/>
                <a:sym typeface="Noto Sans Bold"/>
              </a:rPr>
              <a:t>iểm tra cấu hình Server</a:t>
            </a:r>
          </a:p>
        </p:txBody>
      </p:sp>
      <p:sp>
        <p:nvSpPr>
          <p:cNvPr name="TextBox 6" id="6"/>
          <p:cNvSpPr txBox="true"/>
          <p:nvPr/>
        </p:nvSpPr>
        <p:spPr>
          <a:xfrm rot="0">
            <a:off x="657792" y="3112008"/>
            <a:ext cx="6171129" cy="2462530"/>
          </a:xfrm>
          <a:prstGeom prst="rect">
            <a:avLst/>
          </a:prstGeom>
        </p:spPr>
        <p:txBody>
          <a:bodyPr anchor="t" rtlCol="false" tIns="0" lIns="0" bIns="0" rIns="0">
            <a:spAutoFit/>
          </a:bodyPr>
          <a:lstStyle/>
          <a:p>
            <a:pPr algn="l">
              <a:lnSpc>
                <a:spcPts val="3919"/>
              </a:lnSpc>
              <a:spcBef>
                <a:spcPct val="0"/>
              </a:spcBef>
            </a:pPr>
            <a:r>
              <a:rPr lang="en-US" sz="2799">
                <a:solidFill>
                  <a:srgbClr val="000000"/>
                </a:solidFill>
                <a:latin typeface="Noto Sans"/>
                <a:ea typeface="Noto Sans"/>
                <a:cs typeface="Noto Sans"/>
                <a:sym typeface="Noto Sans"/>
              </a:rPr>
              <a:t>K</a:t>
            </a:r>
            <a:r>
              <a:rPr lang="en-US" sz="2799">
                <a:solidFill>
                  <a:srgbClr val="000000"/>
                </a:solidFill>
                <a:latin typeface="Noto Sans"/>
                <a:ea typeface="Noto Sans"/>
                <a:cs typeface="Noto Sans"/>
                <a:sym typeface="Noto Sans"/>
              </a:rPr>
              <a:t>iểm tra:</a:t>
            </a:r>
          </a:p>
          <a:p>
            <a:pPr algn="l" marL="604519" indent="-302260" lvl="1">
              <a:lnSpc>
                <a:spcPts val="3919"/>
              </a:lnSpc>
              <a:spcBef>
                <a:spcPct val="0"/>
              </a:spcBef>
              <a:buFont typeface="Arial"/>
              <a:buChar char="•"/>
            </a:pPr>
            <a:r>
              <a:rPr lang="en-US" sz="2799">
                <a:solidFill>
                  <a:srgbClr val="000000"/>
                </a:solidFill>
                <a:latin typeface="Noto Sans"/>
                <a:ea typeface="Noto Sans"/>
                <a:cs typeface="Noto Sans"/>
                <a:sym typeface="Noto Sans"/>
              </a:rPr>
              <a:t>Port có phải số?</a:t>
            </a:r>
          </a:p>
          <a:p>
            <a:pPr algn="l" marL="604519" indent="-302260" lvl="1">
              <a:lnSpc>
                <a:spcPts val="3919"/>
              </a:lnSpc>
              <a:spcBef>
                <a:spcPct val="0"/>
              </a:spcBef>
              <a:buFont typeface="Arial"/>
              <a:buChar char="•"/>
            </a:pPr>
            <a:r>
              <a:rPr lang="en-US" sz="2799">
                <a:solidFill>
                  <a:srgbClr val="000000"/>
                </a:solidFill>
                <a:latin typeface="Noto Sans"/>
                <a:ea typeface="Noto Sans"/>
                <a:cs typeface="Noto Sans"/>
                <a:sym typeface="Noto Sans"/>
              </a:rPr>
              <a:t>Port nằm trong khoảng 0–65535?</a:t>
            </a:r>
          </a:p>
          <a:p>
            <a:pPr algn="l">
              <a:lnSpc>
                <a:spcPts val="3919"/>
              </a:lnSpc>
              <a:spcBef>
                <a:spcPct val="0"/>
              </a:spcBef>
            </a:pPr>
            <a:r>
              <a:rPr lang="en-US" sz="2799">
                <a:solidFill>
                  <a:srgbClr val="000000"/>
                </a:solidFill>
                <a:latin typeface="Noto Sans"/>
                <a:ea typeface="Noto Sans"/>
                <a:cs typeface="Noto Sans"/>
                <a:sym typeface="Noto Sans"/>
              </a:rPr>
              <a:t>Nếu sai</a:t>
            </a:r>
          </a:p>
          <a:p>
            <a:pPr algn="l">
              <a:lnSpc>
                <a:spcPts val="3919"/>
              </a:lnSpc>
              <a:spcBef>
                <a:spcPct val="0"/>
              </a:spcBef>
            </a:pPr>
          </a:p>
        </p:txBody>
      </p:sp>
      <p:sp>
        <p:nvSpPr>
          <p:cNvPr name="TextBox 7" id="7"/>
          <p:cNvSpPr txBox="true"/>
          <p:nvPr/>
        </p:nvSpPr>
        <p:spPr>
          <a:xfrm rot="0">
            <a:off x="557534" y="6729688"/>
            <a:ext cx="15949256" cy="1967230"/>
          </a:xfrm>
          <a:prstGeom prst="rect">
            <a:avLst/>
          </a:prstGeom>
        </p:spPr>
        <p:txBody>
          <a:bodyPr anchor="t" rtlCol="false" tIns="0" lIns="0" bIns="0" rIns="0">
            <a:spAutoFit/>
          </a:bodyPr>
          <a:lstStyle/>
          <a:p>
            <a:pPr algn="l" marL="604519" indent="-302260" lvl="1">
              <a:lnSpc>
                <a:spcPts val="3919"/>
              </a:lnSpc>
              <a:spcBef>
                <a:spcPct val="0"/>
              </a:spcBef>
              <a:buFont typeface="Arial"/>
              <a:buChar char="•"/>
            </a:pPr>
            <a:r>
              <a:rPr lang="en-US" sz="2799">
                <a:solidFill>
                  <a:srgbClr val="000000"/>
                </a:solidFill>
                <a:latin typeface="Noto Sans"/>
                <a:ea typeface="Noto Sans"/>
                <a:cs typeface="Noto Sans"/>
                <a:sym typeface="Noto Sans"/>
              </a:rPr>
              <a:t>Trước khi khởi đ</a:t>
            </a:r>
            <a:r>
              <a:rPr lang="en-US" sz="2799">
                <a:solidFill>
                  <a:srgbClr val="000000"/>
                </a:solidFill>
                <a:latin typeface="Noto Sans"/>
                <a:ea typeface="Noto Sans"/>
                <a:cs typeface="Noto Sans"/>
                <a:sym typeface="Noto Sans"/>
              </a:rPr>
              <a:t>ộng Server, chương trình kiểm tra Port.</a:t>
            </a:r>
          </a:p>
          <a:p>
            <a:pPr algn="l" marL="604519" indent="-302260" lvl="1">
              <a:lnSpc>
                <a:spcPts val="3919"/>
              </a:lnSpc>
              <a:spcBef>
                <a:spcPct val="0"/>
              </a:spcBef>
              <a:buFont typeface="Arial"/>
              <a:buChar char="•"/>
            </a:pPr>
            <a:r>
              <a:rPr lang="en-US" sz="2799">
                <a:solidFill>
                  <a:srgbClr val="000000"/>
                </a:solidFill>
                <a:latin typeface="Noto Sans"/>
                <a:ea typeface="Noto Sans"/>
                <a:cs typeface="Noto Sans"/>
                <a:sym typeface="Noto Sans"/>
              </a:rPr>
              <a:t>Chỉ cho phép số nguyên từ 0 đến 65535.</a:t>
            </a:r>
          </a:p>
          <a:p>
            <a:pPr algn="l" marL="604519" indent="-302260" lvl="1">
              <a:lnSpc>
                <a:spcPts val="3919"/>
              </a:lnSpc>
              <a:spcBef>
                <a:spcPct val="0"/>
              </a:spcBef>
              <a:buFont typeface="Arial"/>
              <a:buChar char="•"/>
            </a:pPr>
            <a:r>
              <a:rPr lang="en-US" sz="2799">
                <a:solidFill>
                  <a:srgbClr val="000000"/>
                </a:solidFill>
                <a:latin typeface="Noto Sans"/>
                <a:ea typeface="Noto Sans"/>
                <a:cs typeface="Noto Sans"/>
                <a:sym typeface="Noto Sans"/>
              </a:rPr>
              <a:t>Nếu nhập sai thì hiển thị thông báo lỗi để tránh Server khởi động với cấu hình không hợp lệ.</a:t>
            </a:r>
          </a:p>
          <a:p>
            <a:pPr algn="l">
              <a:lnSpc>
                <a:spcPts val="3919"/>
              </a:lnSpc>
              <a:spcBef>
                <a:spcPct val="0"/>
              </a:spcBef>
            </a:pPr>
          </a:p>
        </p:txBody>
      </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419916" y="1658953"/>
            <a:ext cx="5486738" cy="858474"/>
          </a:xfrm>
          <a:custGeom>
            <a:avLst/>
            <a:gdLst/>
            <a:ahLst/>
            <a:cxnLst/>
            <a:rect r="r" b="b" t="t" l="l"/>
            <a:pathLst>
              <a:path h="858474" w="5486738">
                <a:moveTo>
                  <a:pt x="0" y="0"/>
                </a:moveTo>
                <a:lnTo>
                  <a:pt x="5486737" y="0"/>
                </a:lnTo>
                <a:lnTo>
                  <a:pt x="5486737" y="858475"/>
                </a:lnTo>
                <a:lnTo>
                  <a:pt x="0" y="858475"/>
                </a:lnTo>
                <a:lnTo>
                  <a:pt x="0" y="0"/>
                </a:lnTo>
                <a:close/>
              </a:path>
            </a:pathLst>
          </a:custGeom>
          <a:blipFill>
            <a:blip r:embed="rId3"/>
            <a:stretch>
              <a:fillRect l="0" t="-11602" r="0" b="-11602"/>
            </a:stretch>
          </a:blipFill>
        </p:spPr>
      </p:sp>
      <p:sp>
        <p:nvSpPr>
          <p:cNvPr name="Freeform 4" id="4"/>
          <p:cNvSpPr/>
          <p:nvPr/>
        </p:nvSpPr>
        <p:spPr>
          <a:xfrm flipH="false" flipV="false" rot="0">
            <a:off x="451537" y="3180439"/>
            <a:ext cx="5717650" cy="6862709"/>
          </a:xfrm>
          <a:custGeom>
            <a:avLst/>
            <a:gdLst/>
            <a:ahLst/>
            <a:cxnLst/>
            <a:rect r="r" b="b" t="t" l="l"/>
            <a:pathLst>
              <a:path h="6862709" w="5717650">
                <a:moveTo>
                  <a:pt x="0" y="0"/>
                </a:moveTo>
                <a:lnTo>
                  <a:pt x="5717651" y="0"/>
                </a:lnTo>
                <a:lnTo>
                  <a:pt x="5717651" y="6862709"/>
                </a:lnTo>
                <a:lnTo>
                  <a:pt x="0" y="6862709"/>
                </a:lnTo>
                <a:lnTo>
                  <a:pt x="0" y="0"/>
                </a:lnTo>
                <a:close/>
              </a:path>
            </a:pathLst>
          </a:custGeom>
          <a:blipFill>
            <a:blip r:embed="rId4"/>
            <a:stretch>
              <a:fillRect l="0" t="-1294" r="0" b="-1294"/>
            </a:stretch>
          </a:blipFill>
        </p:spPr>
      </p:sp>
      <p:sp>
        <p:nvSpPr>
          <p:cNvPr name="TextBox 5" id="5"/>
          <p:cNvSpPr txBox="true"/>
          <p:nvPr/>
        </p:nvSpPr>
        <p:spPr>
          <a:xfrm rot="0">
            <a:off x="7141785" y="942975"/>
            <a:ext cx="400442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Lấy</a:t>
            </a:r>
            <a:r>
              <a:rPr lang="en-US" b="true" sz="4800">
                <a:solidFill>
                  <a:srgbClr val="000000"/>
                </a:solidFill>
                <a:latin typeface="Noto Sans Bold"/>
                <a:ea typeface="Noto Sans Bold"/>
                <a:cs typeface="Noto Sans Bold"/>
                <a:sym typeface="Noto Sans Bold"/>
              </a:rPr>
              <a:t> địa chỉ IP</a:t>
            </a:r>
          </a:p>
        </p:txBody>
      </p:sp>
      <p:sp>
        <p:nvSpPr>
          <p:cNvPr name="TextBox 6" id="6"/>
          <p:cNvSpPr txBox="true"/>
          <p:nvPr/>
        </p:nvSpPr>
        <p:spPr>
          <a:xfrm rot="0">
            <a:off x="451537" y="2699109"/>
            <a:ext cx="4326472" cy="481330"/>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Th</a:t>
            </a:r>
            <a:r>
              <a:rPr lang="en-US" sz="2799">
                <a:solidFill>
                  <a:srgbClr val="000000"/>
                </a:solidFill>
                <a:latin typeface="Noto Sans"/>
                <a:ea typeface="Noto Sans"/>
                <a:cs typeface="Noto Sans"/>
                <a:sym typeface="Noto Sans"/>
              </a:rPr>
              <a:t>uật toán</a:t>
            </a:r>
          </a:p>
        </p:txBody>
      </p:sp>
      <p:sp>
        <p:nvSpPr>
          <p:cNvPr name="TextBox 7" id="7"/>
          <p:cNvSpPr txBox="true"/>
          <p:nvPr/>
        </p:nvSpPr>
        <p:spPr>
          <a:xfrm rot="0">
            <a:off x="6975469" y="2011990"/>
            <a:ext cx="11646044" cy="4028541"/>
          </a:xfrm>
          <a:prstGeom prst="rect">
            <a:avLst/>
          </a:prstGeom>
        </p:spPr>
        <p:txBody>
          <a:bodyPr anchor="t" rtlCol="false" tIns="0" lIns="0" bIns="0" rIns="0">
            <a:spAutoFit/>
          </a:bodyPr>
          <a:lstStyle/>
          <a:p>
            <a:pPr algn="l" marL="839032" indent="-419516" lvl="1">
              <a:lnSpc>
                <a:spcPts val="5440"/>
              </a:lnSpc>
              <a:spcBef>
                <a:spcPct val="0"/>
              </a:spcBef>
              <a:buFont typeface="Arial"/>
              <a:buChar char="•"/>
            </a:pPr>
            <a:r>
              <a:rPr lang="en-US" sz="3886">
                <a:solidFill>
                  <a:srgbClr val="000000"/>
                </a:solidFill>
                <a:latin typeface="Noto Sans"/>
                <a:ea typeface="Noto Sans"/>
                <a:cs typeface="Noto Sans"/>
                <a:sym typeface="Noto Sans"/>
              </a:rPr>
              <a:t>Hàm này tự đ</a:t>
            </a:r>
            <a:r>
              <a:rPr lang="en-US" sz="3886">
                <a:solidFill>
                  <a:srgbClr val="000000"/>
                </a:solidFill>
                <a:latin typeface="Noto Sans"/>
                <a:ea typeface="Noto Sans"/>
                <a:cs typeface="Noto Sans"/>
                <a:sym typeface="Noto Sans"/>
              </a:rPr>
              <a:t>ộng lấy địa chỉ IP LAN của máy.</a:t>
            </a:r>
          </a:p>
          <a:p>
            <a:pPr algn="l" marL="839032" indent="-419516" lvl="1">
              <a:lnSpc>
                <a:spcPts val="5440"/>
              </a:lnSpc>
              <a:spcBef>
                <a:spcPct val="0"/>
              </a:spcBef>
              <a:buFont typeface="Arial"/>
              <a:buChar char="•"/>
            </a:pPr>
            <a:r>
              <a:rPr lang="en-US" sz="3886">
                <a:solidFill>
                  <a:srgbClr val="000000"/>
                </a:solidFill>
                <a:latin typeface="Noto Sans"/>
                <a:ea typeface="Noto Sans"/>
                <a:cs typeface="Noto Sans"/>
                <a:sym typeface="Noto Sans"/>
              </a:rPr>
              <a:t>Chương trình duyệt qua tất cả Card mạng đang hoạt động, bỏ qua địa chỉ Loopback và Tunnel, sau đó lấy địa chỉ IPv4 đầu tiên để hiển thị lên giao diện.</a:t>
            </a:r>
          </a:p>
          <a:p>
            <a:pPr algn="l">
              <a:lnSpc>
                <a:spcPts val="5440"/>
              </a:lnSpc>
              <a:spcBef>
                <a:spcPct val="0"/>
              </a:spcBef>
            </a:pPr>
          </a:p>
        </p:txBody>
      </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237807" y="1662949"/>
            <a:ext cx="6080373" cy="4123817"/>
          </a:xfrm>
          <a:custGeom>
            <a:avLst/>
            <a:gdLst/>
            <a:ahLst/>
            <a:cxnLst/>
            <a:rect r="r" b="b" t="t" l="l"/>
            <a:pathLst>
              <a:path h="4123817" w="6080373">
                <a:moveTo>
                  <a:pt x="0" y="0"/>
                </a:moveTo>
                <a:lnTo>
                  <a:pt x="6080373" y="0"/>
                </a:lnTo>
                <a:lnTo>
                  <a:pt x="6080373" y="4123817"/>
                </a:lnTo>
                <a:lnTo>
                  <a:pt x="0" y="4123817"/>
                </a:lnTo>
                <a:lnTo>
                  <a:pt x="0" y="0"/>
                </a:lnTo>
                <a:close/>
              </a:path>
            </a:pathLst>
          </a:custGeom>
          <a:blipFill>
            <a:blip r:embed="rId3"/>
            <a:stretch>
              <a:fillRect l="0" t="0" r="0" b="0"/>
            </a:stretch>
          </a:blipFill>
        </p:spPr>
      </p:sp>
      <p:sp>
        <p:nvSpPr>
          <p:cNvPr name="Freeform 4" id="4"/>
          <p:cNvSpPr/>
          <p:nvPr/>
        </p:nvSpPr>
        <p:spPr>
          <a:xfrm flipH="false" flipV="false" rot="0">
            <a:off x="237807" y="6537276"/>
            <a:ext cx="6080373" cy="804016"/>
          </a:xfrm>
          <a:custGeom>
            <a:avLst/>
            <a:gdLst/>
            <a:ahLst/>
            <a:cxnLst/>
            <a:rect r="r" b="b" t="t" l="l"/>
            <a:pathLst>
              <a:path h="804016" w="6080373">
                <a:moveTo>
                  <a:pt x="0" y="0"/>
                </a:moveTo>
                <a:lnTo>
                  <a:pt x="6080373" y="0"/>
                </a:lnTo>
                <a:lnTo>
                  <a:pt x="6080373" y="804017"/>
                </a:lnTo>
                <a:lnTo>
                  <a:pt x="0" y="804017"/>
                </a:lnTo>
                <a:lnTo>
                  <a:pt x="0" y="0"/>
                </a:lnTo>
                <a:close/>
              </a:path>
            </a:pathLst>
          </a:custGeom>
          <a:blipFill>
            <a:blip r:embed="rId4"/>
            <a:stretch>
              <a:fillRect l="0" t="0" r="0" b="0"/>
            </a:stretch>
          </a:blipFill>
        </p:spPr>
      </p:sp>
      <p:sp>
        <p:nvSpPr>
          <p:cNvPr name="TextBox 5" id="5"/>
          <p:cNvSpPr txBox="true"/>
          <p:nvPr/>
        </p:nvSpPr>
        <p:spPr>
          <a:xfrm rot="0">
            <a:off x="6998910" y="430237"/>
            <a:ext cx="4290179"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Q</a:t>
            </a:r>
            <a:r>
              <a:rPr lang="en-US" b="true" sz="4800">
                <a:solidFill>
                  <a:srgbClr val="000000"/>
                </a:solidFill>
                <a:latin typeface="Noto Sans Bold"/>
                <a:ea typeface="Noto Sans Bold"/>
                <a:cs typeface="Noto Sans Bold"/>
                <a:sym typeface="Noto Sans Bold"/>
              </a:rPr>
              <a:t>uản lý Client</a:t>
            </a:r>
          </a:p>
        </p:txBody>
      </p:sp>
      <p:sp>
        <p:nvSpPr>
          <p:cNvPr name="TextBox 6" id="6"/>
          <p:cNvSpPr txBox="true"/>
          <p:nvPr/>
        </p:nvSpPr>
        <p:spPr>
          <a:xfrm rot="0">
            <a:off x="237807" y="5894021"/>
            <a:ext cx="6080373" cy="481330"/>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Sử</a:t>
            </a:r>
            <a:r>
              <a:rPr lang="en-US" sz="2799">
                <a:solidFill>
                  <a:srgbClr val="000000"/>
                </a:solidFill>
                <a:latin typeface="Noto Sans"/>
                <a:ea typeface="Noto Sans"/>
                <a:cs typeface="Noto Sans"/>
                <a:sym typeface="Noto Sans"/>
              </a:rPr>
              <a:t> dụng</a:t>
            </a:r>
          </a:p>
        </p:txBody>
      </p:sp>
      <p:sp>
        <p:nvSpPr>
          <p:cNvPr name="TextBox 7" id="7"/>
          <p:cNvSpPr txBox="true"/>
          <p:nvPr/>
        </p:nvSpPr>
        <p:spPr>
          <a:xfrm rot="0">
            <a:off x="6500228" y="2202937"/>
            <a:ext cx="11829350" cy="5093667"/>
          </a:xfrm>
          <a:prstGeom prst="rect">
            <a:avLst/>
          </a:prstGeom>
        </p:spPr>
        <p:txBody>
          <a:bodyPr anchor="t" rtlCol="false" tIns="0" lIns="0" bIns="0" rIns="0">
            <a:spAutoFit/>
          </a:bodyPr>
          <a:lstStyle/>
          <a:p>
            <a:pPr algn="l" marL="892548" indent="-446274" lvl="1">
              <a:lnSpc>
                <a:spcPts val="5787"/>
              </a:lnSpc>
              <a:spcBef>
                <a:spcPct val="0"/>
              </a:spcBef>
              <a:buFont typeface="Arial"/>
              <a:buChar char="•"/>
            </a:pPr>
            <a:r>
              <a:rPr lang="en-US" sz="4134">
                <a:solidFill>
                  <a:srgbClr val="000000"/>
                </a:solidFill>
                <a:latin typeface="Noto Sans"/>
                <a:ea typeface="Noto Sans"/>
                <a:cs typeface="Noto Sans"/>
                <a:sym typeface="Noto Sans"/>
              </a:rPr>
              <a:t>Đây là nhóm hàm quản lý danh sách các Client đang kết nố</a:t>
            </a:r>
            <a:r>
              <a:rPr lang="en-US" sz="4134">
                <a:solidFill>
                  <a:srgbClr val="000000"/>
                </a:solidFill>
                <a:latin typeface="Noto Sans"/>
                <a:ea typeface="Noto Sans"/>
                <a:cs typeface="Noto Sans"/>
                <a:sym typeface="Noto Sans"/>
              </a:rPr>
              <a:t>i.</a:t>
            </a:r>
          </a:p>
          <a:p>
            <a:pPr algn="l" marL="892548" indent="-446274" lvl="1">
              <a:lnSpc>
                <a:spcPts val="5787"/>
              </a:lnSpc>
              <a:spcBef>
                <a:spcPct val="0"/>
              </a:spcBef>
              <a:buFont typeface="Arial"/>
              <a:buChar char="•"/>
            </a:pPr>
            <a:r>
              <a:rPr lang="en-US" sz="4134">
                <a:solidFill>
                  <a:srgbClr val="000000"/>
                </a:solidFill>
                <a:latin typeface="Noto Sans"/>
                <a:ea typeface="Noto Sans"/>
                <a:cs typeface="Noto Sans"/>
                <a:sym typeface="Noto Sans"/>
              </a:rPr>
              <a:t>Em sử dụng lock để đảm bảo nhiều luồng không truy cập danh sách cùng lúc.</a:t>
            </a:r>
          </a:p>
          <a:p>
            <a:pPr algn="l" marL="892548" indent="-446274" lvl="1">
              <a:lnSpc>
                <a:spcPts val="5787"/>
              </a:lnSpc>
              <a:spcBef>
                <a:spcPct val="0"/>
              </a:spcBef>
              <a:buFont typeface="Arial"/>
              <a:buChar char="•"/>
            </a:pPr>
            <a:r>
              <a:rPr lang="en-US" sz="4134">
                <a:solidFill>
                  <a:srgbClr val="000000"/>
                </a:solidFill>
                <a:latin typeface="Noto Sans"/>
                <a:ea typeface="Noto Sans"/>
                <a:cs typeface="Noto Sans"/>
                <a:sym typeface="Noto Sans"/>
              </a:rPr>
              <a:t>Khi Server dừng, tất cả Client sẽ được đóng kết nối và xóa khỏi danh sách.</a:t>
            </a:r>
          </a:p>
          <a:p>
            <a:pPr algn="l">
              <a:lnSpc>
                <a:spcPts val="5787"/>
              </a:lnSpc>
              <a:spcBef>
                <a:spcPct val="0"/>
              </a:spcBef>
            </a:pPr>
          </a:p>
        </p:txBody>
      </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376826" y="1391602"/>
            <a:ext cx="4735891" cy="1708045"/>
          </a:xfrm>
          <a:custGeom>
            <a:avLst/>
            <a:gdLst/>
            <a:ahLst/>
            <a:cxnLst/>
            <a:rect r="r" b="b" t="t" l="l"/>
            <a:pathLst>
              <a:path h="1708045" w="4735891">
                <a:moveTo>
                  <a:pt x="0" y="0"/>
                </a:moveTo>
                <a:lnTo>
                  <a:pt x="4735892" y="0"/>
                </a:lnTo>
                <a:lnTo>
                  <a:pt x="4735892" y="1708045"/>
                </a:lnTo>
                <a:lnTo>
                  <a:pt x="0" y="1708045"/>
                </a:lnTo>
                <a:lnTo>
                  <a:pt x="0" y="0"/>
                </a:lnTo>
                <a:close/>
              </a:path>
            </a:pathLst>
          </a:custGeom>
          <a:blipFill>
            <a:blip r:embed="rId3"/>
            <a:stretch>
              <a:fillRect l="0" t="-7686" r="0" b="-810"/>
            </a:stretch>
          </a:blipFill>
        </p:spPr>
      </p:sp>
      <p:sp>
        <p:nvSpPr>
          <p:cNvPr name="Freeform 4" id="4"/>
          <p:cNvSpPr/>
          <p:nvPr/>
        </p:nvSpPr>
        <p:spPr>
          <a:xfrm flipH="false" flipV="false" rot="0">
            <a:off x="2232254" y="3299412"/>
            <a:ext cx="3472059" cy="6429614"/>
          </a:xfrm>
          <a:custGeom>
            <a:avLst/>
            <a:gdLst/>
            <a:ahLst/>
            <a:cxnLst/>
            <a:rect r="r" b="b" t="t" l="l"/>
            <a:pathLst>
              <a:path h="6429614" w="3472059">
                <a:moveTo>
                  <a:pt x="0" y="0"/>
                </a:moveTo>
                <a:lnTo>
                  <a:pt x="3472059" y="0"/>
                </a:lnTo>
                <a:lnTo>
                  <a:pt x="3472059" y="6429614"/>
                </a:lnTo>
                <a:lnTo>
                  <a:pt x="0" y="6429614"/>
                </a:lnTo>
                <a:lnTo>
                  <a:pt x="0" y="0"/>
                </a:lnTo>
                <a:close/>
              </a:path>
            </a:pathLst>
          </a:custGeom>
          <a:blipFill>
            <a:blip r:embed="rId4"/>
            <a:stretch>
              <a:fillRect l="0" t="-1035" r="0" b="-1035"/>
            </a:stretch>
          </a:blipFill>
        </p:spPr>
      </p:sp>
      <p:sp>
        <p:nvSpPr>
          <p:cNvPr name="TextBox 5" id="5"/>
          <p:cNvSpPr txBox="true"/>
          <p:nvPr/>
        </p:nvSpPr>
        <p:spPr>
          <a:xfrm rot="0">
            <a:off x="6678836" y="580072"/>
            <a:ext cx="685621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Cập</a:t>
            </a:r>
            <a:r>
              <a:rPr lang="en-US" b="true" sz="4800">
                <a:solidFill>
                  <a:srgbClr val="000000"/>
                </a:solidFill>
                <a:latin typeface="Noto Sans Bold"/>
                <a:ea typeface="Noto Sans Bold"/>
                <a:cs typeface="Noto Sans Bold"/>
                <a:sym typeface="Noto Sans Bold"/>
              </a:rPr>
              <a:t> nhật Client Online</a:t>
            </a:r>
          </a:p>
        </p:txBody>
      </p:sp>
      <p:sp>
        <p:nvSpPr>
          <p:cNvPr name="TextBox 6" id="6"/>
          <p:cNvSpPr txBox="true"/>
          <p:nvPr/>
        </p:nvSpPr>
        <p:spPr>
          <a:xfrm rot="0">
            <a:off x="376826" y="3737018"/>
            <a:ext cx="1675567" cy="481330"/>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Nguyên lý</a:t>
            </a:r>
          </a:p>
        </p:txBody>
      </p:sp>
      <p:sp>
        <p:nvSpPr>
          <p:cNvPr name="TextBox 7" id="7"/>
          <p:cNvSpPr txBox="true"/>
          <p:nvPr/>
        </p:nvSpPr>
        <p:spPr>
          <a:xfrm rot="0">
            <a:off x="5704313" y="1671901"/>
            <a:ext cx="11974133" cy="4168334"/>
          </a:xfrm>
          <a:prstGeom prst="rect">
            <a:avLst/>
          </a:prstGeom>
        </p:spPr>
        <p:txBody>
          <a:bodyPr anchor="t" rtlCol="false" tIns="0" lIns="0" bIns="0" rIns="0">
            <a:spAutoFit/>
          </a:bodyPr>
          <a:lstStyle/>
          <a:p>
            <a:pPr algn="l" marL="850964" indent="-425482" lvl="1">
              <a:lnSpc>
                <a:spcPts val="5518"/>
              </a:lnSpc>
              <a:spcBef>
                <a:spcPct val="0"/>
              </a:spcBef>
              <a:buFont typeface="Arial"/>
              <a:buChar char="•"/>
            </a:pPr>
            <a:r>
              <a:rPr lang="en-US" sz="3941">
                <a:solidFill>
                  <a:srgbClr val="000000"/>
                </a:solidFill>
                <a:latin typeface="Noto Sans"/>
                <a:ea typeface="Noto Sans"/>
                <a:cs typeface="Noto Sans"/>
                <a:sym typeface="Noto Sans"/>
              </a:rPr>
              <a:t>Kh</a:t>
            </a:r>
            <a:r>
              <a:rPr lang="en-US" sz="3941">
                <a:solidFill>
                  <a:srgbClr val="000000"/>
                </a:solidFill>
                <a:latin typeface="Noto Sans"/>
                <a:ea typeface="Noto Sans"/>
                <a:cs typeface="Noto Sans"/>
                <a:sym typeface="Noto Sans"/>
              </a:rPr>
              <a:t>i Client gửi Ping hoặc Upload File, Server sẽ cập nhật thời gian LastSeen.</a:t>
            </a:r>
          </a:p>
          <a:p>
            <a:pPr algn="l" marL="850964" indent="-425482" lvl="1">
              <a:lnSpc>
                <a:spcPts val="5518"/>
              </a:lnSpc>
              <a:spcBef>
                <a:spcPct val="0"/>
              </a:spcBef>
              <a:buFont typeface="Arial"/>
              <a:buChar char="•"/>
            </a:pPr>
            <a:r>
              <a:rPr lang="en-US" sz="3941">
                <a:solidFill>
                  <a:srgbClr val="000000"/>
                </a:solidFill>
                <a:latin typeface="Noto Sans"/>
                <a:ea typeface="Noto Sans"/>
                <a:cs typeface="Noto Sans"/>
                <a:sym typeface="Noto Sans"/>
              </a:rPr>
              <a:t>Nếu sau 8 giây Client không còn phản hồi thì Server xem như Client đã ngắt kết nối và tự động xóa khỏi danh sách.</a:t>
            </a:r>
          </a:p>
          <a:p>
            <a:pPr algn="l">
              <a:lnSpc>
                <a:spcPts val="5518"/>
              </a:lnSpc>
              <a:spcBef>
                <a:spcPct val="0"/>
              </a:spcBef>
            </a:pPr>
          </a:p>
        </p:txBody>
      </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354110" y="1484764"/>
            <a:ext cx="6518393" cy="2713240"/>
          </a:xfrm>
          <a:custGeom>
            <a:avLst/>
            <a:gdLst/>
            <a:ahLst/>
            <a:cxnLst/>
            <a:rect r="r" b="b" t="t" l="l"/>
            <a:pathLst>
              <a:path h="2713240" w="6518393">
                <a:moveTo>
                  <a:pt x="0" y="0"/>
                </a:moveTo>
                <a:lnTo>
                  <a:pt x="6518393" y="0"/>
                </a:lnTo>
                <a:lnTo>
                  <a:pt x="6518393" y="2713240"/>
                </a:lnTo>
                <a:lnTo>
                  <a:pt x="0" y="2713240"/>
                </a:lnTo>
                <a:lnTo>
                  <a:pt x="0" y="0"/>
                </a:lnTo>
                <a:close/>
              </a:path>
            </a:pathLst>
          </a:custGeom>
          <a:blipFill>
            <a:blip r:embed="rId3"/>
            <a:stretch>
              <a:fillRect l="0" t="0" r="0" b="0"/>
            </a:stretch>
          </a:blipFill>
        </p:spPr>
      </p:sp>
      <p:sp>
        <p:nvSpPr>
          <p:cNvPr name="TextBox 4" id="4"/>
          <p:cNvSpPr txBox="true"/>
          <p:nvPr/>
        </p:nvSpPr>
        <p:spPr>
          <a:xfrm rot="0">
            <a:off x="6598881" y="420343"/>
            <a:ext cx="6828234"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Q</a:t>
            </a:r>
            <a:r>
              <a:rPr lang="en-US" b="true" sz="4800">
                <a:solidFill>
                  <a:srgbClr val="000000"/>
                </a:solidFill>
                <a:latin typeface="Noto Sans Bold"/>
                <a:ea typeface="Noto Sans Bold"/>
                <a:cs typeface="Noto Sans Bold"/>
                <a:sym typeface="Noto Sans Bold"/>
              </a:rPr>
              <a:t>uản lý danh sách File</a:t>
            </a:r>
          </a:p>
        </p:txBody>
      </p:sp>
      <p:sp>
        <p:nvSpPr>
          <p:cNvPr name="TextBox 5" id="5"/>
          <p:cNvSpPr txBox="true"/>
          <p:nvPr/>
        </p:nvSpPr>
        <p:spPr>
          <a:xfrm rot="0">
            <a:off x="354110" y="4398029"/>
            <a:ext cx="8789890" cy="3909695"/>
          </a:xfrm>
          <a:prstGeom prst="rect">
            <a:avLst/>
          </a:prstGeom>
        </p:spPr>
        <p:txBody>
          <a:bodyPr anchor="t" rtlCol="false" tIns="0" lIns="0" bIns="0" rIns="0">
            <a:spAutoFit/>
          </a:bodyPr>
          <a:lstStyle/>
          <a:p>
            <a:pPr algn="l">
              <a:lnSpc>
                <a:spcPts val="4480"/>
              </a:lnSpc>
              <a:spcBef>
                <a:spcPct val="0"/>
              </a:spcBef>
            </a:pPr>
            <a:r>
              <a:rPr lang="en-US" sz="3200">
                <a:solidFill>
                  <a:srgbClr val="000000"/>
                </a:solidFill>
                <a:latin typeface="Noto Sans"/>
                <a:ea typeface="Noto Sans"/>
                <a:cs typeface="Noto Sans"/>
                <a:sym typeface="Noto Sans"/>
              </a:rPr>
              <a:t>Thô</a:t>
            </a:r>
            <a:r>
              <a:rPr lang="en-US" sz="3200">
                <a:solidFill>
                  <a:srgbClr val="000000"/>
                </a:solidFill>
                <a:latin typeface="Noto Sans"/>
                <a:ea typeface="Noto Sans"/>
                <a:cs typeface="Noto Sans"/>
                <a:sym typeface="Noto Sans"/>
              </a:rPr>
              <a:t>ng tin lưu</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Tên file</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IP Client</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Kích thước</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Trạng thái</a:t>
            </a:r>
          </a:p>
          <a:p>
            <a:pPr algn="l" marL="690881" indent="-345440" lvl="1">
              <a:lnSpc>
                <a:spcPts val="4480"/>
              </a:lnSpc>
              <a:spcBef>
                <a:spcPct val="0"/>
              </a:spcBef>
              <a:buFont typeface="Arial"/>
              <a:buChar char="•"/>
            </a:pPr>
            <a:r>
              <a:rPr lang="en-US" sz="3200">
                <a:solidFill>
                  <a:srgbClr val="000000"/>
                </a:solidFill>
                <a:latin typeface="Noto Sans"/>
                <a:ea typeface="Noto Sans"/>
                <a:cs typeface="Noto Sans"/>
                <a:sym typeface="Noto Sans"/>
              </a:rPr>
              <a:t>Thời gian</a:t>
            </a:r>
          </a:p>
          <a:p>
            <a:pPr algn="l">
              <a:lnSpc>
                <a:spcPts val="4480"/>
              </a:lnSpc>
              <a:spcBef>
                <a:spcPct val="0"/>
              </a:spcBef>
            </a:pPr>
          </a:p>
        </p:txBody>
      </p:sp>
      <p:sp>
        <p:nvSpPr>
          <p:cNvPr name="TextBox 6" id="6"/>
          <p:cNvSpPr txBox="true"/>
          <p:nvPr/>
        </p:nvSpPr>
        <p:spPr>
          <a:xfrm rot="0">
            <a:off x="6598881" y="1408564"/>
            <a:ext cx="11101572" cy="4260179"/>
          </a:xfrm>
          <a:prstGeom prst="rect">
            <a:avLst/>
          </a:prstGeom>
        </p:spPr>
        <p:txBody>
          <a:bodyPr anchor="t" rtlCol="false" tIns="0" lIns="0" bIns="0" rIns="0">
            <a:spAutoFit/>
          </a:bodyPr>
          <a:lstStyle/>
          <a:p>
            <a:pPr algn="l" marL="869306" indent="-434653" lvl="1">
              <a:lnSpc>
                <a:spcPts val="5636"/>
              </a:lnSpc>
              <a:spcBef>
                <a:spcPct val="0"/>
              </a:spcBef>
              <a:buFont typeface="Arial"/>
              <a:buChar char="•"/>
            </a:pPr>
            <a:r>
              <a:rPr lang="en-US" sz="4026">
                <a:solidFill>
                  <a:srgbClr val="000000"/>
                </a:solidFill>
                <a:latin typeface="Noto Sans"/>
                <a:ea typeface="Noto Sans"/>
                <a:cs typeface="Noto Sans"/>
                <a:sym typeface="Noto Sans"/>
              </a:rPr>
              <a:t>Kh</a:t>
            </a:r>
            <a:r>
              <a:rPr lang="en-US" sz="4026">
                <a:solidFill>
                  <a:srgbClr val="000000"/>
                </a:solidFill>
                <a:latin typeface="Noto Sans"/>
                <a:ea typeface="Noto Sans"/>
                <a:cs typeface="Noto Sans"/>
                <a:sym typeface="Noto Sans"/>
              </a:rPr>
              <a:t>i bắt đầu Upload, Server tạo một bản ghi mới trong danh sách file.</a:t>
            </a:r>
          </a:p>
          <a:p>
            <a:pPr algn="l" marL="869306" indent="-434653" lvl="1">
              <a:lnSpc>
                <a:spcPts val="5636"/>
              </a:lnSpc>
              <a:spcBef>
                <a:spcPct val="0"/>
              </a:spcBef>
              <a:buFont typeface="Arial"/>
              <a:buChar char="•"/>
            </a:pPr>
            <a:r>
              <a:rPr lang="en-US" sz="4026">
                <a:solidFill>
                  <a:srgbClr val="000000"/>
                </a:solidFill>
                <a:latin typeface="Noto Sans"/>
                <a:ea typeface="Noto Sans"/>
                <a:cs typeface="Noto Sans"/>
                <a:sym typeface="Noto Sans"/>
              </a:rPr>
              <a:t>Sau khi Upload hoàn tất hoặc thất bại thì cập nhật lại trạng thái để người dùng theo dõi quá trình truyền file.</a:t>
            </a:r>
          </a:p>
          <a:p>
            <a:pPr algn="l">
              <a:lnSpc>
                <a:spcPts val="5636"/>
              </a:lnSpc>
              <a:spcBef>
                <a:spcPct val="0"/>
              </a:spcBef>
            </a:pPr>
          </a:p>
        </p:txBody>
      </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565134" y="1702438"/>
            <a:ext cx="6682786" cy="5050184"/>
          </a:xfrm>
          <a:custGeom>
            <a:avLst/>
            <a:gdLst/>
            <a:ahLst/>
            <a:cxnLst/>
            <a:rect r="r" b="b" t="t" l="l"/>
            <a:pathLst>
              <a:path h="5050184" w="6682786">
                <a:moveTo>
                  <a:pt x="0" y="0"/>
                </a:moveTo>
                <a:lnTo>
                  <a:pt x="6682786" y="0"/>
                </a:lnTo>
                <a:lnTo>
                  <a:pt x="6682786" y="5050183"/>
                </a:lnTo>
                <a:lnTo>
                  <a:pt x="0" y="5050183"/>
                </a:lnTo>
                <a:lnTo>
                  <a:pt x="0" y="0"/>
                </a:lnTo>
                <a:close/>
              </a:path>
            </a:pathLst>
          </a:custGeom>
          <a:blipFill>
            <a:blip r:embed="rId3"/>
            <a:stretch>
              <a:fillRect l="0" t="0" r="0" b="0"/>
            </a:stretch>
          </a:blipFill>
        </p:spPr>
      </p:sp>
      <p:sp>
        <p:nvSpPr>
          <p:cNvPr name="TextBox 4" id="4"/>
          <p:cNvSpPr txBox="true"/>
          <p:nvPr/>
        </p:nvSpPr>
        <p:spPr>
          <a:xfrm rot="0">
            <a:off x="6389048" y="358089"/>
            <a:ext cx="6731198"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Cl</a:t>
            </a:r>
            <a:r>
              <a:rPr lang="en-US" b="true" sz="4800">
                <a:solidFill>
                  <a:srgbClr val="000000"/>
                </a:solidFill>
                <a:latin typeface="Noto Sans Bold"/>
                <a:ea typeface="Noto Sans Bold"/>
                <a:cs typeface="Noto Sans Bold"/>
                <a:sym typeface="Noto Sans Bold"/>
              </a:rPr>
              <a:t>ient Cleanup Thread</a:t>
            </a:r>
          </a:p>
        </p:txBody>
      </p:sp>
      <p:sp>
        <p:nvSpPr>
          <p:cNvPr name="TextBox 5" id="5"/>
          <p:cNvSpPr txBox="true"/>
          <p:nvPr/>
        </p:nvSpPr>
        <p:spPr>
          <a:xfrm rot="0">
            <a:off x="7247920" y="2180989"/>
            <a:ext cx="10871724" cy="4571632"/>
          </a:xfrm>
          <a:prstGeom prst="rect">
            <a:avLst/>
          </a:prstGeom>
        </p:spPr>
        <p:txBody>
          <a:bodyPr anchor="t" rtlCol="false" tIns="0" lIns="0" bIns="0" rIns="0">
            <a:spAutoFit/>
          </a:bodyPr>
          <a:lstStyle/>
          <a:p>
            <a:pPr algn="l" marL="804462" indent="-402231" lvl="1">
              <a:lnSpc>
                <a:spcPts val="5216"/>
              </a:lnSpc>
              <a:spcBef>
                <a:spcPct val="0"/>
              </a:spcBef>
              <a:buFont typeface="Arial"/>
              <a:buChar char="•"/>
            </a:pPr>
            <a:r>
              <a:rPr lang="en-US" sz="3726">
                <a:solidFill>
                  <a:srgbClr val="000000"/>
                </a:solidFill>
                <a:latin typeface="Noto Sans"/>
                <a:ea typeface="Noto Sans"/>
                <a:cs typeface="Noto Sans"/>
                <a:sym typeface="Noto Sans"/>
              </a:rPr>
              <a:t>Đây là m</a:t>
            </a:r>
            <a:r>
              <a:rPr lang="en-US" sz="3726">
                <a:solidFill>
                  <a:srgbClr val="000000"/>
                </a:solidFill>
                <a:latin typeface="Noto Sans"/>
                <a:ea typeface="Noto Sans"/>
                <a:cs typeface="Noto Sans"/>
                <a:sym typeface="Noto Sans"/>
              </a:rPr>
              <a:t>ột tiến trình chạy nền,cứ mỗi 1 giây, Server sẽ kiểm tra xem có Client nào quá thời gian cho phép hay không.</a:t>
            </a:r>
          </a:p>
          <a:p>
            <a:pPr algn="l">
              <a:lnSpc>
                <a:spcPts val="5216"/>
              </a:lnSpc>
              <a:spcBef>
                <a:spcPct val="0"/>
              </a:spcBef>
            </a:pPr>
            <a:r>
              <a:rPr lang="en-US" sz="3726">
                <a:solidFill>
                  <a:srgbClr val="000000"/>
                </a:solidFill>
                <a:latin typeface="Noto Sans"/>
                <a:ea typeface="Noto Sans"/>
                <a:cs typeface="Noto Sans"/>
                <a:sym typeface="Noto Sans"/>
              </a:rPr>
              <a:t>=&gt;&gt; </a:t>
            </a:r>
            <a:r>
              <a:rPr lang="en-US" sz="3726">
                <a:solidFill>
                  <a:srgbClr val="000000"/>
                </a:solidFill>
                <a:latin typeface="Noto Sans"/>
                <a:ea typeface="Noto Sans"/>
                <a:cs typeface="Noto Sans"/>
                <a:sym typeface="Noto Sans"/>
              </a:rPr>
              <a:t>Nếu có thì tự động xóa khỏi danh sách.</a:t>
            </a:r>
          </a:p>
          <a:p>
            <a:pPr algn="l" marL="804462" indent="-402231" lvl="1">
              <a:lnSpc>
                <a:spcPts val="5216"/>
              </a:lnSpc>
              <a:spcBef>
                <a:spcPct val="0"/>
              </a:spcBef>
              <a:buFont typeface="Arial"/>
              <a:buChar char="•"/>
            </a:pPr>
            <a:r>
              <a:rPr lang="en-US" sz="3726">
                <a:solidFill>
                  <a:srgbClr val="000000"/>
                </a:solidFill>
                <a:latin typeface="Noto Sans"/>
                <a:ea typeface="Noto Sans"/>
                <a:cs typeface="Noto Sans"/>
                <a:sym typeface="Noto Sans"/>
              </a:rPr>
              <a:t>Em sử dụng CancellationTokenSource để có thể dừng tiến trình này khi Server tắt</a:t>
            </a:r>
          </a:p>
          <a:p>
            <a:pPr algn="l">
              <a:lnSpc>
                <a:spcPts val="5216"/>
              </a:lnSpc>
              <a:spcBef>
                <a:spcPct val="0"/>
              </a:spcBef>
            </a:pPr>
          </a:p>
        </p:txBody>
      </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212109" y="2376148"/>
            <a:ext cx="5880958" cy="951831"/>
          </a:xfrm>
          <a:custGeom>
            <a:avLst/>
            <a:gdLst/>
            <a:ahLst/>
            <a:cxnLst/>
            <a:rect r="r" b="b" t="t" l="l"/>
            <a:pathLst>
              <a:path h="951831" w="5880958">
                <a:moveTo>
                  <a:pt x="0" y="0"/>
                </a:moveTo>
                <a:lnTo>
                  <a:pt x="5880957" y="0"/>
                </a:lnTo>
                <a:lnTo>
                  <a:pt x="5880957" y="951831"/>
                </a:lnTo>
                <a:lnTo>
                  <a:pt x="0" y="951831"/>
                </a:lnTo>
                <a:lnTo>
                  <a:pt x="0" y="0"/>
                </a:lnTo>
                <a:close/>
              </a:path>
            </a:pathLst>
          </a:custGeom>
          <a:blipFill>
            <a:blip r:embed="rId3"/>
            <a:stretch>
              <a:fillRect l="0" t="0" r="0" b="0"/>
            </a:stretch>
          </a:blipFill>
        </p:spPr>
      </p:sp>
      <p:sp>
        <p:nvSpPr>
          <p:cNvPr name="Freeform 4" id="4"/>
          <p:cNvSpPr/>
          <p:nvPr/>
        </p:nvSpPr>
        <p:spPr>
          <a:xfrm flipH="false" flipV="false" rot="0">
            <a:off x="212109" y="3987598"/>
            <a:ext cx="3058694" cy="2311803"/>
          </a:xfrm>
          <a:custGeom>
            <a:avLst/>
            <a:gdLst/>
            <a:ahLst/>
            <a:cxnLst/>
            <a:rect r="r" b="b" t="t" l="l"/>
            <a:pathLst>
              <a:path h="2311803" w="3058694">
                <a:moveTo>
                  <a:pt x="0" y="0"/>
                </a:moveTo>
                <a:lnTo>
                  <a:pt x="3058693" y="0"/>
                </a:lnTo>
                <a:lnTo>
                  <a:pt x="3058693" y="2311804"/>
                </a:lnTo>
                <a:lnTo>
                  <a:pt x="0" y="2311804"/>
                </a:lnTo>
                <a:lnTo>
                  <a:pt x="0" y="0"/>
                </a:lnTo>
                <a:close/>
              </a:path>
            </a:pathLst>
          </a:custGeom>
          <a:blipFill>
            <a:blip r:embed="rId4"/>
            <a:stretch>
              <a:fillRect l="0" t="0" r="0" b="0"/>
            </a:stretch>
          </a:blipFill>
        </p:spPr>
      </p:sp>
      <p:sp>
        <p:nvSpPr>
          <p:cNvPr name="Freeform 5" id="5"/>
          <p:cNvSpPr/>
          <p:nvPr/>
        </p:nvSpPr>
        <p:spPr>
          <a:xfrm flipH="false" flipV="false" rot="0">
            <a:off x="6783266" y="2376148"/>
            <a:ext cx="5221222" cy="966893"/>
          </a:xfrm>
          <a:custGeom>
            <a:avLst/>
            <a:gdLst/>
            <a:ahLst/>
            <a:cxnLst/>
            <a:rect r="r" b="b" t="t" l="l"/>
            <a:pathLst>
              <a:path h="966893" w="5221222">
                <a:moveTo>
                  <a:pt x="0" y="0"/>
                </a:moveTo>
                <a:lnTo>
                  <a:pt x="5221223" y="0"/>
                </a:lnTo>
                <a:lnTo>
                  <a:pt x="5221223" y="966893"/>
                </a:lnTo>
                <a:lnTo>
                  <a:pt x="0" y="966893"/>
                </a:lnTo>
                <a:lnTo>
                  <a:pt x="0" y="0"/>
                </a:lnTo>
                <a:close/>
              </a:path>
            </a:pathLst>
          </a:custGeom>
          <a:blipFill>
            <a:blip r:embed="rId5"/>
            <a:stretch>
              <a:fillRect l="0" t="0" r="0" b="0"/>
            </a:stretch>
          </a:blipFill>
        </p:spPr>
      </p:sp>
      <p:sp>
        <p:nvSpPr>
          <p:cNvPr name="Freeform 6" id="6"/>
          <p:cNvSpPr/>
          <p:nvPr/>
        </p:nvSpPr>
        <p:spPr>
          <a:xfrm flipH="false" flipV="false" rot="0">
            <a:off x="6783266" y="3343041"/>
            <a:ext cx="5221222" cy="5175422"/>
          </a:xfrm>
          <a:custGeom>
            <a:avLst/>
            <a:gdLst/>
            <a:ahLst/>
            <a:cxnLst/>
            <a:rect r="r" b="b" t="t" l="l"/>
            <a:pathLst>
              <a:path h="5175422" w="5221222">
                <a:moveTo>
                  <a:pt x="0" y="0"/>
                </a:moveTo>
                <a:lnTo>
                  <a:pt x="5221223" y="0"/>
                </a:lnTo>
                <a:lnTo>
                  <a:pt x="5221223" y="5175422"/>
                </a:lnTo>
                <a:lnTo>
                  <a:pt x="0" y="5175422"/>
                </a:lnTo>
                <a:lnTo>
                  <a:pt x="0" y="0"/>
                </a:lnTo>
                <a:close/>
              </a:path>
            </a:pathLst>
          </a:custGeom>
          <a:blipFill>
            <a:blip r:embed="rId6"/>
            <a:stretch>
              <a:fillRect l="0" t="0" r="0" b="0"/>
            </a:stretch>
          </a:blipFill>
        </p:spPr>
      </p:sp>
      <p:sp>
        <p:nvSpPr>
          <p:cNvPr name="Freeform 7" id="7"/>
          <p:cNvSpPr/>
          <p:nvPr/>
        </p:nvSpPr>
        <p:spPr>
          <a:xfrm flipH="false" flipV="false" rot="0">
            <a:off x="13558409" y="2383583"/>
            <a:ext cx="4221616" cy="959458"/>
          </a:xfrm>
          <a:custGeom>
            <a:avLst/>
            <a:gdLst/>
            <a:ahLst/>
            <a:cxnLst/>
            <a:rect r="r" b="b" t="t" l="l"/>
            <a:pathLst>
              <a:path h="959458" w="4221616">
                <a:moveTo>
                  <a:pt x="0" y="0"/>
                </a:moveTo>
                <a:lnTo>
                  <a:pt x="4221616" y="0"/>
                </a:lnTo>
                <a:lnTo>
                  <a:pt x="4221616" y="959458"/>
                </a:lnTo>
                <a:lnTo>
                  <a:pt x="0" y="959458"/>
                </a:lnTo>
                <a:lnTo>
                  <a:pt x="0" y="0"/>
                </a:lnTo>
                <a:close/>
              </a:path>
            </a:pathLst>
          </a:custGeom>
          <a:blipFill>
            <a:blip r:embed="rId7"/>
            <a:stretch>
              <a:fillRect l="0" t="0" r="0" b="0"/>
            </a:stretch>
          </a:blipFill>
        </p:spPr>
      </p:sp>
      <p:sp>
        <p:nvSpPr>
          <p:cNvPr name="TextBox 8" id="8"/>
          <p:cNvSpPr txBox="true"/>
          <p:nvPr/>
        </p:nvSpPr>
        <p:spPr>
          <a:xfrm rot="0">
            <a:off x="6854942" y="378493"/>
            <a:ext cx="5893356"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Q</a:t>
            </a:r>
            <a:r>
              <a:rPr lang="en-US" b="true" sz="4800">
                <a:solidFill>
                  <a:srgbClr val="000000"/>
                </a:solidFill>
                <a:latin typeface="Noto Sans Bold"/>
                <a:ea typeface="Noto Sans Bold"/>
                <a:cs typeface="Noto Sans Bold"/>
                <a:sym typeface="Noto Sans Bold"/>
              </a:rPr>
              <a:t>uản lý File Upload</a:t>
            </a:r>
          </a:p>
        </p:txBody>
      </p:sp>
      <p:sp>
        <p:nvSpPr>
          <p:cNvPr name="TextBox 9" id="9"/>
          <p:cNvSpPr txBox="true"/>
          <p:nvPr/>
        </p:nvSpPr>
        <p:spPr>
          <a:xfrm rot="0">
            <a:off x="212109" y="1838303"/>
            <a:ext cx="3302198"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Khô</a:t>
            </a:r>
            <a:r>
              <a:rPr lang="en-US" sz="3200">
                <a:solidFill>
                  <a:srgbClr val="000000"/>
                </a:solidFill>
                <a:latin typeface="Noto Sans"/>
                <a:ea typeface="Noto Sans"/>
                <a:cs typeface="Noto Sans"/>
                <a:sym typeface="Noto Sans"/>
              </a:rPr>
              <a:t>ng ghi đè File</a:t>
            </a:r>
          </a:p>
        </p:txBody>
      </p:sp>
      <p:sp>
        <p:nvSpPr>
          <p:cNvPr name="TextBox 10" id="10"/>
          <p:cNvSpPr txBox="true"/>
          <p:nvPr/>
        </p:nvSpPr>
        <p:spPr>
          <a:xfrm rot="0">
            <a:off x="212109" y="3270829"/>
            <a:ext cx="955477"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Ví dụ</a:t>
            </a:r>
          </a:p>
        </p:txBody>
      </p:sp>
      <p:sp>
        <p:nvSpPr>
          <p:cNvPr name="TextBox 11" id="11"/>
          <p:cNvSpPr txBox="true"/>
          <p:nvPr/>
        </p:nvSpPr>
        <p:spPr>
          <a:xfrm rot="0">
            <a:off x="6783266" y="1838303"/>
            <a:ext cx="3018354"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Res</a:t>
            </a:r>
            <a:r>
              <a:rPr lang="en-US" sz="3200">
                <a:solidFill>
                  <a:srgbClr val="000000"/>
                </a:solidFill>
                <a:latin typeface="Noto Sans"/>
                <a:ea typeface="Noto Sans"/>
                <a:cs typeface="Noto Sans"/>
                <a:sym typeface="Noto Sans"/>
              </a:rPr>
              <a:t>ume Upload</a:t>
            </a:r>
          </a:p>
        </p:txBody>
      </p:sp>
      <p:sp>
        <p:nvSpPr>
          <p:cNvPr name="TextBox 12" id="12"/>
          <p:cNvSpPr txBox="true"/>
          <p:nvPr/>
        </p:nvSpPr>
        <p:spPr>
          <a:xfrm rot="0">
            <a:off x="13558409" y="1838303"/>
            <a:ext cx="3196233" cy="537845"/>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Noto Sans"/>
                <a:ea typeface="Noto Sans"/>
                <a:cs typeface="Noto Sans"/>
                <a:sym typeface="Noto Sans"/>
              </a:rPr>
              <a:t>K</a:t>
            </a:r>
            <a:r>
              <a:rPr lang="en-US" sz="3200">
                <a:solidFill>
                  <a:srgbClr val="000000"/>
                </a:solidFill>
                <a:latin typeface="Noto Sans"/>
                <a:ea typeface="Noto Sans"/>
                <a:cs typeface="Noto Sans"/>
                <a:sym typeface="Noto Sans"/>
              </a:rPr>
              <a:t>iểm tra SHA256</a:t>
            </a:r>
          </a:p>
        </p:txBody>
      </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493215" y="1737390"/>
            <a:ext cx="17661672" cy="7458972"/>
          </a:xfrm>
          <a:prstGeom prst="rect">
            <a:avLst/>
          </a:prstGeom>
        </p:spPr>
        <p:txBody>
          <a:bodyPr anchor="t" rtlCol="false" tIns="0" lIns="0" bIns="0" rIns="0">
            <a:spAutoFit/>
          </a:bodyPr>
          <a:lstStyle/>
          <a:p>
            <a:pPr algn="l" marL="1022296" indent="-511148" lvl="1">
              <a:lnSpc>
                <a:spcPts val="6629"/>
              </a:lnSpc>
              <a:spcBef>
                <a:spcPct val="0"/>
              </a:spcBef>
              <a:buFont typeface="Arial"/>
              <a:buChar char="•"/>
            </a:pPr>
            <a:r>
              <a:rPr lang="en-US" sz="4735">
                <a:solidFill>
                  <a:srgbClr val="000000"/>
                </a:solidFill>
                <a:latin typeface="Noto Sans"/>
                <a:ea typeface="Noto Sans"/>
                <a:cs typeface="Noto Sans"/>
                <a:sym typeface="Noto Sans"/>
              </a:rPr>
              <a:t>Đây là nhóm hàm</a:t>
            </a:r>
            <a:r>
              <a:rPr lang="en-US" sz="4735">
                <a:solidFill>
                  <a:srgbClr val="000000"/>
                </a:solidFill>
                <a:latin typeface="Noto Sans"/>
                <a:ea typeface="Noto Sans"/>
                <a:cs typeface="Noto Sans"/>
                <a:sym typeface="Noto Sans"/>
              </a:rPr>
              <a:t> hỗ trợ Upload.</a:t>
            </a:r>
          </a:p>
          <a:p>
            <a:pPr algn="l" marL="1022296" indent="-511148" lvl="1">
              <a:lnSpc>
                <a:spcPts val="6629"/>
              </a:lnSpc>
              <a:spcBef>
                <a:spcPct val="0"/>
              </a:spcBef>
              <a:buFont typeface="Arial"/>
              <a:buChar char="•"/>
            </a:pPr>
            <a:r>
              <a:rPr lang="en-US" sz="4735">
                <a:solidFill>
                  <a:srgbClr val="000000"/>
                </a:solidFill>
                <a:latin typeface="Noto Sans"/>
                <a:ea typeface="Noto Sans"/>
                <a:cs typeface="Noto Sans"/>
                <a:sym typeface="Noto Sans"/>
              </a:rPr>
              <a:t>ReserveUniquePath() tạo tên mới nếu file đã tồn tại để tránh ghi đè.</a:t>
            </a:r>
          </a:p>
          <a:p>
            <a:pPr algn="l" marL="1022296" indent="-511148" lvl="1">
              <a:lnSpc>
                <a:spcPts val="6629"/>
              </a:lnSpc>
              <a:spcBef>
                <a:spcPct val="0"/>
              </a:spcBef>
              <a:buFont typeface="Arial"/>
              <a:buChar char="•"/>
            </a:pPr>
            <a:r>
              <a:rPr lang="en-US" sz="4735">
                <a:solidFill>
                  <a:srgbClr val="000000"/>
                </a:solidFill>
                <a:latin typeface="Noto Sans"/>
                <a:ea typeface="Noto Sans"/>
                <a:cs typeface="Noto Sans"/>
                <a:sym typeface="Noto Sans"/>
              </a:rPr>
              <a:t>GetResumeOffset() xác định số byte đã nhận để tiếp tục Upload nếu bị mất mạng.</a:t>
            </a:r>
          </a:p>
          <a:p>
            <a:pPr algn="l" marL="1022296" indent="-511148" lvl="1">
              <a:lnSpc>
                <a:spcPts val="6629"/>
              </a:lnSpc>
              <a:spcBef>
                <a:spcPct val="0"/>
              </a:spcBef>
              <a:buFont typeface="Arial"/>
              <a:buChar char="•"/>
            </a:pPr>
            <a:r>
              <a:rPr lang="en-US" sz="4735">
                <a:solidFill>
                  <a:srgbClr val="000000"/>
                </a:solidFill>
                <a:latin typeface="Noto Sans"/>
                <a:ea typeface="Noto Sans"/>
                <a:cs typeface="Noto Sans"/>
                <a:sym typeface="Noto Sans"/>
              </a:rPr>
              <a:t>Cuối cùng HashEquals() tính SHA-256 và so sánh với mã hash do Client gửi nhằm đảm bảo file nhận được không bị lỗi.</a:t>
            </a:r>
          </a:p>
          <a:p>
            <a:pPr algn="l">
              <a:lnSpc>
                <a:spcPts val="6629"/>
              </a:lnSpc>
              <a:spcBef>
                <a:spcPct val="0"/>
              </a:spcBef>
            </a:pPr>
          </a:p>
        </p:txBody>
      </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502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Freeform 3" id="3"/>
          <p:cNvSpPr/>
          <p:nvPr/>
        </p:nvSpPr>
        <p:spPr>
          <a:xfrm flipH="false" flipV="false" rot="0">
            <a:off x="321184" y="1497250"/>
            <a:ext cx="2389198" cy="8183176"/>
          </a:xfrm>
          <a:custGeom>
            <a:avLst/>
            <a:gdLst/>
            <a:ahLst/>
            <a:cxnLst/>
            <a:rect r="r" b="b" t="t" l="l"/>
            <a:pathLst>
              <a:path h="8183176" w="2389198">
                <a:moveTo>
                  <a:pt x="0" y="0"/>
                </a:moveTo>
                <a:lnTo>
                  <a:pt x="2389198" y="0"/>
                </a:lnTo>
                <a:lnTo>
                  <a:pt x="2389198" y="8183176"/>
                </a:lnTo>
                <a:lnTo>
                  <a:pt x="0" y="8183176"/>
                </a:lnTo>
                <a:lnTo>
                  <a:pt x="0" y="0"/>
                </a:lnTo>
                <a:close/>
              </a:path>
            </a:pathLst>
          </a:custGeom>
          <a:blipFill>
            <a:blip r:embed="rId3"/>
            <a:stretch>
              <a:fillRect l="0" t="-231" r="0" b="-231"/>
            </a:stretch>
          </a:blipFill>
        </p:spPr>
      </p:sp>
      <p:sp>
        <p:nvSpPr>
          <p:cNvPr name="Freeform 4" id="4"/>
          <p:cNvSpPr/>
          <p:nvPr/>
        </p:nvSpPr>
        <p:spPr>
          <a:xfrm flipH="false" flipV="false" rot="0">
            <a:off x="2710382" y="1497250"/>
            <a:ext cx="4280765" cy="6843195"/>
          </a:xfrm>
          <a:custGeom>
            <a:avLst/>
            <a:gdLst/>
            <a:ahLst/>
            <a:cxnLst/>
            <a:rect r="r" b="b" t="t" l="l"/>
            <a:pathLst>
              <a:path h="6843195" w="4280765">
                <a:moveTo>
                  <a:pt x="0" y="0"/>
                </a:moveTo>
                <a:lnTo>
                  <a:pt x="4280765" y="0"/>
                </a:lnTo>
                <a:lnTo>
                  <a:pt x="4280765" y="6843196"/>
                </a:lnTo>
                <a:lnTo>
                  <a:pt x="0" y="6843196"/>
                </a:lnTo>
                <a:lnTo>
                  <a:pt x="0" y="0"/>
                </a:lnTo>
                <a:close/>
              </a:path>
            </a:pathLst>
          </a:custGeom>
          <a:blipFill>
            <a:blip r:embed="rId4"/>
            <a:stretch>
              <a:fillRect l="0" t="0" r="0" b="0"/>
            </a:stretch>
          </a:blipFill>
        </p:spPr>
      </p:sp>
      <p:sp>
        <p:nvSpPr>
          <p:cNvPr name="TextBox 5" id="5"/>
          <p:cNvSpPr txBox="true"/>
          <p:nvPr/>
        </p:nvSpPr>
        <p:spPr>
          <a:xfrm rot="0">
            <a:off x="7129212" y="308034"/>
            <a:ext cx="4640223"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Các</a:t>
            </a:r>
            <a:r>
              <a:rPr lang="en-US" b="true" sz="4800">
                <a:solidFill>
                  <a:srgbClr val="000000"/>
                </a:solidFill>
                <a:latin typeface="Noto Sans Bold"/>
                <a:ea typeface="Noto Sans Bold"/>
                <a:cs typeface="Noto Sans Bold"/>
                <a:sym typeface="Noto Sans Bold"/>
              </a:rPr>
              <a:t> hàm hỗ trợ</a:t>
            </a:r>
          </a:p>
        </p:txBody>
      </p:sp>
      <p:sp>
        <p:nvSpPr>
          <p:cNvPr name="TextBox 6" id="6"/>
          <p:cNvSpPr txBox="true"/>
          <p:nvPr/>
        </p:nvSpPr>
        <p:spPr>
          <a:xfrm rot="0">
            <a:off x="6991147" y="1449625"/>
            <a:ext cx="10244832" cy="4855432"/>
          </a:xfrm>
          <a:prstGeom prst="rect">
            <a:avLst/>
          </a:prstGeom>
        </p:spPr>
        <p:txBody>
          <a:bodyPr anchor="t" rtlCol="false" tIns="0" lIns="0" bIns="0" rIns="0">
            <a:spAutoFit/>
          </a:bodyPr>
          <a:lstStyle/>
          <a:p>
            <a:pPr algn="l" marL="667403" indent="-333702" lvl="1">
              <a:lnSpc>
                <a:spcPts val="4327"/>
              </a:lnSpc>
              <a:buFont typeface="Arial"/>
              <a:buChar char="•"/>
            </a:pPr>
            <a:r>
              <a:rPr lang="en-US" sz="3091">
                <a:solidFill>
                  <a:srgbClr val="000000"/>
                </a:solidFill>
                <a:latin typeface="Noto Sans"/>
                <a:ea typeface="Noto Sans"/>
                <a:cs typeface="Noto Sans"/>
                <a:sym typeface="Noto Sans"/>
              </a:rPr>
              <a:t>Cuối cùng là các hàm hỗ trợ.</a:t>
            </a:r>
          </a:p>
          <a:p>
            <a:pPr algn="l" marL="667403" indent="-333702" lvl="1">
              <a:lnSpc>
                <a:spcPts val="4327"/>
              </a:lnSpc>
              <a:buFont typeface="Arial"/>
              <a:buChar char="•"/>
            </a:pPr>
            <a:r>
              <a:rPr lang="en-US" sz="3091">
                <a:solidFill>
                  <a:srgbClr val="000000"/>
                </a:solidFill>
                <a:latin typeface="Noto Sans"/>
                <a:ea typeface="Noto Sans"/>
                <a:cs typeface="Noto Sans"/>
                <a:sym typeface="Noto Sans"/>
              </a:rPr>
              <a:t>F</a:t>
            </a:r>
            <a:r>
              <a:rPr lang="en-US" sz="3091">
                <a:solidFill>
                  <a:srgbClr val="000000"/>
                </a:solidFill>
                <a:latin typeface="Noto Sans"/>
                <a:ea typeface="Noto Sans"/>
                <a:cs typeface="Noto Sans"/>
                <a:sym typeface="Noto Sans"/>
              </a:rPr>
              <a:t>ormatSize() chuyển đổi số byte sang KB, MB hoặc GB để hiển thị dễ đọc.</a:t>
            </a:r>
          </a:p>
          <a:p>
            <a:pPr algn="l" marL="667403" indent="-333702" lvl="1">
              <a:lnSpc>
                <a:spcPts val="4327"/>
              </a:lnSpc>
              <a:buFont typeface="Arial"/>
              <a:buChar char="•"/>
            </a:pPr>
            <a:r>
              <a:rPr lang="en-US" sz="3091">
                <a:solidFill>
                  <a:srgbClr val="000000"/>
                </a:solidFill>
                <a:latin typeface="Noto Sans"/>
                <a:ea typeface="Noto Sans"/>
                <a:cs typeface="Noto Sans"/>
                <a:sym typeface="Noto Sans"/>
              </a:rPr>
              <a:t>I</a:t>
            </a:r>
            <a:r>
              <a:rPr lang="en-US" sz="3091">
                <a:solidFill>
                  <a:srgbClr val="000000"/>
                </a:solidFill>
                <a:latin typeface="Noto Sans"/>
                <a:ea typeface="Noto Sans"/>
                <a:cs typeface="Noto Sans"/>
                <a:sym typeface="Noto Sans"/>
              </a:rPr>
              <a:t>sValidPortText() kiểm tra dữ liệu nhập vào ô Port.</a:t>
            </a:r>
          </a:p>
          <a:p>
            <a:pPr algn="l" marL="667403" indent="-333702" lvl="1">
              <a:lnSpc>
                <a:spcPts val="4327"/>
              </a:lnSpc>
              <a:spcBef>
                <a:spcPct val="0"/>
              </a:spcBef>
              <a:buFont typeface="Arial"/>
              <a:buChar char="•"/>
            </a:pPr>
            <a:r>
              <a:rPr lang="en-US" sz="3091">
                <a:solidFill>
                  <a:srgbClr val="000000"/>
                </a:solidFill>
                <a:latin typeface="Noto Sans"/>
                <a:ea typeface="Noto Sans"/>
                <a:cs typeface="Noto Sans"/>
                <a:sym typeface="Noto Sans"/>
              </a:rPr>
              <a:t>L</a:t>
            </a:r>
            <a:r>
              <a:rPr lang="en-US" sz="3091">
                <a:solidFill>
                  <a:srgbClr val="000000"/>
                </a:solidFill>
                <a:latin typeface="Noto Sans"/>
                <a:ea typeface="Noto Sans"/>
                <a:cs typeface="Noto Sans"/>
                <a:sym typeface="Noto Sans"/>
              </a:rPr>
              <a:t>og() ghi toàn b</a:t>
            </a:r>
            <a:r>
              <a:rPr lang="en-US" sz="3091">
                <a:solidFill>
                  <a:srgbClr val="000000"/>
                </a:solidFill>
                <a:latin typeface="Noto Sans"/>
                <a:ea typeface="Noto Sans"/>
                <a:cs typeface="Noto Sans"/>
                <a:sym typeface="Noto Sans"/>
              </a:rPr>
              <a:t>ộ sự kiện lên cửa sổ nhật ký.</a:t>
            </a:r>
          </a:p>
          <a:p>
            <a:pPr algn="l" marL="667403" indent="-333702" lvl="1">
              <a:lnSpc>
                <a:spcPts val="4327"/>
              </a:lnSpc>
              <a:spcBef>
                <a:spcPct val="0"/>
              </a:spcBef>
              <a:buFont typeface="Arial"/>
              <a:buChar char="•"/>
            </a:pPr>
            <a:r>
              <a:rPr lang="en-US" sz="3091">
                <a:solidFill>
                  <a:srgbClr val="000000"/>
                </a:solidFill>
                <a:latin typeface="Noto Sans"/>
                <a:ea typeface="Noto Sans"/>
                <a:cs typeface="Noto Sans"/>
                <a:sym typeface="Noto Sans"/>
              </a:rPr>
              <a:t>Khi người dùng đóng chương trình, OnClosed() sẽ gọi StopServer() để giải phóng tài nguyên và đóng tất cả kết nối một cách an toàn.</a:t>
            </a:r>
          </a:p>
          <a:p>
            <a:pPr algn="l">
              <a:lnSpc>
                <a:spcPts val="4327"/>
              </a:lnSpc>
              <a:spcBef>
                <a:spcPct val="0"/>
              </a:spcBef>
            </a:pPr>
          </a:p>
        </p:txBody>
      </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2510"/>
            <a:ext cx="18288000" cy="10281980"/>
          </a:xfrm>
          <a:custGeom>
            <a:avLst/>
            <a:gdLst/>
            <a:ahLst/>
            <a:cxnLst/>
            <a:rect r="r" b="b" t="t" l="l"/>
            <a:pathLst>
              <a:path h="10281980" w="18288000">
                <a:moveTo>
                  <a:pt x="0" y="0"/>
                </a:moveTo>
                <a:lnTo>
                  <a:pt x="18288000" y="0"/>
                </a:lnTo>
                <a:lnTo>
                  <a:pt x="18288000" y="10281980"/>
                </a:lnTo>
                <a:lnTo>
                  <a:pt x="0" y="10281980"/>
                </a:lnTo>
                <a:lnTo>
                  <a:pt x="0" y="0"/>
                </a:lnTo>
                <a:close/>
              </a:path>
            </a:pathLst>
          </a:custGeom>
          <a:blipFill>
            <a:blip r:embed="rId2"/>
            <a:stretch>
              <a:fillRect l="0" t="0" r="0" b="0"/>
            </a:stretch>
          </a:blipFill>
        </p:spPr>
      </p:sp>
      <p:sp>
        <p:nvSpPr>
          <p:cNvPr name="TextBox 3" id="3"/>
          <p:cNvSpPr txBox="true"/>
          <p:nvPr/>
        </p:nvSpPr>
        <p:spPr>
          <a:xfrm rot="0">
            <a:off x="3792438" y="1207494"/>
            <a:ext cx="10703123" cy="811530"/>
          </a:xfrm>
          <a:prstGeom prst="rect">
            <a:avLst/>
          </a:prstGeom>
        </p:spPr>
        <p:txBody>
          <a:bodyPr anchor="t" rtlCol="false" tIns="0" lIns="0" bIns="0" rIns="0">
            <a:spAutoFit/>
          </a:bodyPr>
          <a:lstStyle/>
          <a:p>
            <a:pPr algn="ctr">
              <a:lnSpc>
                <a:spcPts val="6719"/>
              </a:lnSpc>
              <a:spcBef>
                <a:spcPct val="0"/>
              </a:spcBef>
            </a:pPr>
            <a:r>
              <a:rPr lang="en-US" b="true" sz="4800">
                <a:solidFill>
                  <a:srgbClr val="000000"/>
                </a:solidFill>
                <a:latin typeface="Noto Sans Bold"/>
                <a:ea typeface="Noto Sans Bold"/>
                <a:cs typeface="Noto Sans Bold"/>
                <a:sym typeface="Noto Sans Bold"/>
              </a:rPr>
              <a:t>KHÓ KHĂ</a:t>
            </a:r>
            <a:r>
              <a:rPr lang="en-US" b="true" sz="4800">
                <a:solidFill>
                  <a:srgbClr val="000000"/>
                </a:solidFill>
                <a:latin typeface="Noto Sans Bold"/>
                <a:ea typeface="Noto Sans Bold"/>
                <a:cs typeface="Noto Sans Bold"/>
                <a:sym typeface="Noto Sans Bold"/>
              </a:rPr>
              <a:t>N VÀ GIẢI PHÁP KỸ THUẬT</a:t>
            </a:r>
          </a:p>
        </p:txBody>
      </p:sp>
      <p:sp>
        <p:nvSpPr>
          <p:cNvPr name="TextBox 4" id="4"/>
          <p:cNvSpPr txBox="true"/>
          <p:nvPr/>
        </p:nvSpPr>
        <p:spPr>
          <a:xfrm rot="0">
            <a:off x="692472" y="2221865"/>
            <a:ext cx="16903056" cy="7036435"/>
          </a:xfrm>
          <a:prstGeom prst="rect">
            <a:avLst/>
          </a:prstGeom>
        </p:spPr>
        <p:txBody>
          <a:bodyPr anchor="t" rtlCol="false" tIns="0" lIns="0" bIns="0" rIns="0">
            <a:spAutoFit/>
          </a:bodyPr>
          <a:lstStyle/>
          <a:p>
            <a:pPr algn="l">
              <a:lnSpc>
                <a:spcPts val="4340"/>
              </a:lnSpc>
              <a:spcBef>
                <a:spcPct val="0"/>
              </a:spcBef>
            </a:pPr>
            <a:r>
              <a:rPr lang="en-US" b="true" sz="3100">
                <a:solidFill>
                  <a:srgbClr val="000000"/>
                </a:solidFill>
                <a:latin typeface="Noto Sans Bold"/>
                <a:ea typeface="Noto Sans Bold"/>
                <a:cs typeface="Noto Sans Bold"/>
                <a:sym typeface="Noto Sans Bold"/>
              </a:rPr>
              <a:t>Lỗi dính gói dữ liệu (TCP Stream)</a:t>
            </a:r>
            <a:r>
              <a:rPr lang="en-US" sz="3100">
                <a:solidFill>
                  <a:srgbClr val="000000"/>
                </a:solidFill>
                <a:latin typeface="Noto Sans"/>
                <a:ea typeface="Noto Sans"/>
                <a:cs typeface="Noto Sans"/>
                <a:sym typeface="Noto Sans"/>
              </a:rPr>
              <a:t>: Do bản chất của TCP là truyền luồng liên tục, các file gửi cùng lúc dễ bị tr</a:t>
            </a:r>
            <a:r>
              <a:rPr lang="en-US" sz="3100">
                <a:solidFill>
                  <a:srgbClr val="000000"/>
                </a:solidFill>
                <a:latin typeface="Noto Sans"/>
                <a:ea typeface="Noto Sans"/>
                <a:cs typeface="Noto Sans"/>
                <a:sym typeface="Noto Sans"/>
              </a:rPr>
              <a:t>ộn lẫn.</a:t>
            </a:r>
          </a:p>
          <a:p>
            <a:pPr algn="l">
              <a:lnSpc>
                <a:spcPts val="4340"/>
              </a:lnSpc>
              <a:spcBef>
                <a:spcPct val="0"/>
              </a:spcBef>
            </a:pPr>
            <a:r>
              <a:rPr lang="en-US" sz="3100">
                <a:solidFill>
                  <a:srgbClr val="000000"/>
                </a:solidFill>
                <a:latin typeface="Noto Sans"/>
                <a:ea typeface="Noto Sans"/>
                <a:cs typeface="Noto Sans"/>
                <a:sym typeface="Noto Sans"/>
              </a:rPr>
              <a:t>=&gt;&gt; </a:t>
            </a:r>
            <a:r>
              <a:rPr lang="en-US" b="true" sz="3100">
                <a:solidFill>
                  <a:srgbClr val="000000"/>
                </a:solidFill>
                <a:latin typeface="Noto Sans Bold"/>
                <a:ea typeface="Noto Sans Bold"/>
                <a:cs typeface="Noto Sans Bold"/>
                <a:sym typeface="Noto Sans Bold"/>
              </a:rPr>
              <a:t>Giải pháp</a:t>
            </a:r>
            <a:r>
              <a:rPr lang="en-US" sz="3100">
                <a:solidFill>
                  <a:srgbClr val="000000"/>
                </a:solidFill>
                <a:latin typeface="Noto Sans"/>
                <a:ea typeface="Noto Sans"/>
                <a:cs typeface="Noto Sans"/>
                <a:sym typeface="Noto Sans"/>
              </a:rPr>
              <a:t>: Tự thiết kế cấu trúc định dạng gói tin riêng để Server bóc tách chính xác điểm đầu/cuối của từng file.</a:t>
            </a:r>
          </a:p>
          <a:p>
            <a:pPr algn="l">
              <a:lnSpc>
                <a:spcPts val="4340"/>
              </a:lnSpc>
              <a:spcBef>
                <a:spcPct val="0"/>
              </a:spcBef>
            </a:pPr>
            <a:r>
              <a:rPr lang="en-US" b="true" sz="3100">
                <a:solidFill>
                  <a:srgbClr val="000000"/>
                </a:solidFill>
                <a:latin typeface="Noto Sans Bold"/>
                <a:ea typeface="Noto Sans Bold"/>
                <a:cs typeface="Noto Sans Bold"/>
                <a:sym typeface="Noto Sans Bold"/>
              </a:rPr>
              <a:t>Đơ giao diện (UI Freeze</a:t>
            </a:r>
            <a:r>
              <a:rPr lang="en-US" sz="3100">
                <a:solidFill>
                  <a:srgbClr val="000000"/>
                </a:solidFill>
                <a:latin typeface="Noto Sans"/>
                <a:ea typeface="Noto Sans"/>
                <a:cs typeface="Noto Sans"/>
                <a:sym typeface="Noto Sans"/>
              </a:rPr>
              <a:t>): Truyền file dung lượng lớn liên tục dễ gây nghẽn và treo ứng dụng.</a:t>
            </a:r>
          </a:p>
          <a:p>
            <a:pPr algn="l">
              <a:lnSpc>
                <a:spcPts val="4340"/>
              </a:lnSpc>
              <a:spcBef>
                <a:spcPct val="0"/>
              </a:spcBef>
            </a:pPr>
            <a:r>
              <a:rPr lang="en-US" sz="3100">
                <a:solidFill>
                  <a:srgbClr val="000000"/>
                </a:solidFill>
                <a:latin typeface="Noto Sans"/>
                <a:ea typeface="Noto Sans"/>
                <a:cs typeface="Noto Sans"/>
                <a:sym typeface="Noto Sans"/>
              </a:rPr>
              <a:t>=&gt;&gt; </a:t>
            </a:r>
            <a:r>
              <a:rPr lang="en-US" b="true" sz="3100">
                <a:solidFill>
                  <a:srgbClr val="000000"/>
                </a:solidFill>
                <a:latin typeface="Noto Sans Bold"/>
                <a:ea typeface="Noto Sans Bold"/>
                <a:cs typeface="Noto Sans Bold"/>
                <a:sym typeface="Noto Sans Bold"/>
              </a:rPr>
              <a:t>Giải pháp</a:t>
            </a:r>
            <a:r>
              <a:rPr lang="en-US" sz="3100">
                <a:solidFill>
                  <a:srgbClr val="000000"/>
                </a:solidFill>
                <a:latin typeface="Noto Sans"/>
                <a:ea typeface="Noto Sans"/>
                <a:cs typeface="Noto Sans"/>
                <a:sym typeface="Noto Sans"/>
              </a:rPr>
              <a:t>: Áp dụng triệt để lập trình bất đồng bộ (async/await) để đẩy toàn bộ việc đọc/ghi và truyền byte xuống luồng ngầm chạy độc lập.</a:t>
            </a:r>
          </a:p>
          <a:p>
            <a:pPr algn="l">
              <a:lnSpc>
                <a:spcPts val="4340"/>
              </a:lnSpc>
              <a:spcBef>
                <a:spcPct val="0"/>
              </a:spcBef>
            </a:pPr>
            <a:r>
              <a:rPr lang="en-US" b="true" sz="3100">
                <a:solidFill>
                  <a:srgbClr val="000000"/>
                </a:solidFill>
                <a:latin typeface="Noto Sans Bold"/>
                <a:ea typeface="Noto Sans Bold"/>
                <a:cs typeface="Noto Sans Bold"/>
                <a:sym typeface="Noto Sans Bold"/>
              </a:rPr>
              <a:t>Xung đột luồng cập nhật</a:t>
            </a:r>
            <a:r>
              <a:rPr lang="en-US" sz="3100">
                <a:solidFill>
                  <a:srgbClr val="000000"/>
                </a:solidFill>
                <a:latin typeface="Noto Sans"/>
                <a:ea typeface="Noto Sans"/>
                <a:cs typeface="Noto Sans"/>
                <a:sym typeface="Noto Sans"/>
              </a:rPr>
              <a:t>: Việc bắn tốc độ tải từ luồng mạng lên màn hình liên tục mili-giây gây lỗi crash giao diện.</a:t>
            </a:r>
          </a:p>
          <a:p>
            <a:pPr algn="l">
              <a:lnSpc>
                <a:spcPts val="4340"/>
              </a:lnSpc>
              <a:spcBef>
                <a:spcPct val="0"/>
              </a:spcBef>
            </a:pPr>
            <a:r>
              <a:rPr lang="en-US" sz="3100">
                <a:solidFill>
                  <a:srgbClr val="000000"/>
                </a:solidFill>
                <a:latin typeface="Noto Sans"/>
                <a:ea typeface="Noto Sans"/>
                <a:cs typeface="Noto Sans"/>
                <a:sym typeface="Noto Sans"/>
              </a:rPr>
              <a:t>=&gt;&gt; </a:t>
            </a:r>
            <a:r>
              <a:rPr lang="en-US" b="true" sz="3100">
                <a:solidFill>
                  <a:srgbClr val="000000"/>
                </a:solidFill>
                <a:latin typeface="Noto Sans Bold"/>
                <a:ea typeface="Noto Sans Bold"/>
                <a:cs typeface="Noto Sans Bold"/>
                <a:sym typeface="Noto Sans Bold"/>
              </a:rPr>
              <a:t>Giải pháp</a:t>
            </a:r>
            <a:r>
              <a:rPr lang="en-US" sz="3100">
                <a:solidFill>
                  <a:srgbClr val="000000"/>
                </a:solidFill>
                <a:latin typeface="Noto Sans"/>
                <a:ea typeface="Noto Sans"/>
                <a:cs typeface="Noto Sans"/>
                <a:sym typeface="Noto Sans"/>
              </a:rPr>
              <a:t>: Cài đặt bộ đếm chu kỳ cập nhật (0.3 giây/lần) kết hợp cơ chế Data Binding động.</a:t>
            </a:r>
          </a:p>
          <a:p>
            <a:pPr algn="l">
              <a:lnSpc>
                <a:spcPts val="4340"/>
              </a:lnSpc>
              <a:spcBef>
                <a:spcPct val="0"/>
              </a:spcBef>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DAHN9pxiARw</dc:identifier>
  <dcterms:modified xsi:type="dcterms:W3CDTF">2011-08-01T06:04:30Z</dcterms:modified>
  <cp:revision>1</cp:revision>
  <dc:title>Nội dung đoạn văn bản của bạn</dc:title>
</cp:coreProperties>
</file>